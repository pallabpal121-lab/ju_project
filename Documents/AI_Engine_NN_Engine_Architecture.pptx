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c334b124b74bc7" /><Relationship Type="http://schemas.openxmlformats.org/officeDocument/2006/relationships/extended-properties" Target="/docProps/app.xml" Id="Rb0550848901041da" /><Relationship Type="http://schemas.openxmlformats.org/officeDocument/2006/relationships/officeDocument" Target="/ppt/presentation.xml" Id="R4180c137a8c140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94aa486bb74056"/>
  </p:sldMasterIdLst>
  <p:notesMasterIdLst>
    <p:notesMasterId xmlns:r="http://schemas.openxmlformats.org/officeDocument/2006/relationships" r:id="R8ba3ea9c7f6f4436"/>
  </p:notesMasterIdLst>
  <p:sldIdLst>
    <p:sldId xmlns:r="http://schemas.openxmlformats.org/officeDocument/2006/relationships" id="256" r:id="Rf5f6661ffecd4897"/>
    <p:sldId xmlns:r="http://schemas.openxmlformats.org/officeDocument/2006/relationships" id="257" r:id="Rb1a44e26ff5c4f3c"/>
    <p:sldId xmlns:r="http://schemas.openxmlformats.org/officeDocument/2006/relationships" id="258" r:id="Re61869605fdd450b"/>
    <p:sldId xmlns:r="http://schemas.openxmlformats.org/officeDocument/2006/relationships" id="259" r:id="R752ef195dbe64d2d"/>
    <p:sldId xmlns:r="http://schemas.openxmlformats.org/officeDocument/2006/relationships" id="260" r:id="Rdae2dba42d614f37"/>
    <p:sldId xmlns:r="http://schemas.openxmlformats.org/officeDocument/2006/relationships" id="261" r:id="Rf9eb938818c54166"/>
    <p:sldId xmlns:r="http://schemas.openxmlformats.org/officeDocument/2006/relationships" id="262" r:id="R81405c39b6ae49ae"/>
    <p:sldId xmlns:r="http://schemas.openxmlformats.org/officeDocument/2006/relationships" id="263" r:id="Raae521befb7545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4ee76b4ab24ad9" /><Relationship Type="http://schemas.openxmlformats.org/officeDocument/2006/relationships/slideMaster" Target="/ppt/slideMasters/slideMaster1.xml" Id="R7594aa486bb74056" /><Relationship Type="http://schemas.openxmlformats.org/officeDocument/2006/relationships/notesMaster" Target="/ppt/notesMasters/notesMaster1.xml" Id="R8ba3ea9c7f6f4436" /><Relationship Type="http://schemas.openxmlformats.org/officeDocument/2006/relationships/presProps" Target="/ppt/presProps.xml" Id="R2e1d724d62984c72" /><Relationship Type="http://schemas.openxmlformats.org/officeDocument/2006/relationships/tableStyles" Target="/ppt/tableStyles.xml" Id="Ra334ba1e2f224132" /><Relationship Type="http://schemas.openxmlformats.org/officeDocument/2006/relationships/slide" Target="/ppt/slides/slide1.xml" Id="Rf5f6661ffecd4897" /><Relationship Type="http://schemas.openxmlformats.org/officeDocument/2006/relationships/slide" Target="/ppt/slides/slide2.xml" Id="Rb1a44e26ff5c4f3c" /><Relationship Type="http://schemas.openxmlformats.org/officeDocument/2006/relationships/slide" Target="/ppt/slides/slide3.xml" Id="Re61869605fdd450b" /><Relationship Type="http://schemas.openxmlformats.org/officeDocument/2006/relationships/slide" Target="/ppt/slides/slide4.xml" Id="R752ef195dbe64d2d" /><Relationship Type="http://schemas.openxmlformats.org/officeDocument/2006/relationships/slide" Target="/ppt/slides/slide5.xml" Id="Rdae2dba42d614f37" /><Relationship Type="http://schemas.openxmlformats.org/officeDocument/2006/relationships/slide" Target="/ppt/slides/slide6.xml" Id="Rf9eb938818c54166" /><Relationship Type="http://schemas.openxmlformats.org/officeDocument/2006/relationships/slide" Target="/ppt/slides/slide7.xml" Id="R81405c39b6ae49ae" /><Relationship Type="http://schemas.openxmlformats.org/officeDocument/2006/relationships/slide" Target="/ppt/slides/slide8.xml" Id="Raae521befb7545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0564eca8814c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c367b8a2444833" /><Relationship Type="http://schemas.openxmlformats.org/officeDocument/2006/relationships/notesMaster" Target="/ppt/notesMasters/notesMaster1.xml" Id="R786cead5642547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1c69e6c54547fb" /><Relationship Type="http://schemas.openxmlformats.org/officeDocument/2006/relationships/notesMaster" Target="/ppt/notesMasters/notesMaster1.xml" Id="R27503e517afd47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4b59ed4cb14c7c" /><Relationship Type="http://schemas.openxmlformats.org/officeDocument/2006/relationships/notesMaster" Target="/ppt/notesMasters/notesMaster1.xml" Id="Rb0f93613d76f4b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c845016cab48da" /><Relationship Type="http://schemas.openxmlformats.org/officeDocument/2006/relationships/notesMaster" Target="/ppt/notesMasters/notesMaster1.xml" Id="Ra5593f9013ca49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e86ca08f6d4ad8" /><Relationship Type="http://schemas.openxmlformats.org/officeDocument/2006/relationships/notesMaster" Target="/ppt/notesMasters/notesMaster1.xml" Id="R044671d2b83e4f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dc25208c1a4e02" /><Relationship Type="http://schemas.openxmlformats.org/officeDocument/2006/relationships/notesMaster" Target="/ppt/notesMasters/notesMaster1.xml" Id="R60011faadd2e42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26808807914448" /><Relationship Type="http://schemas.openxmlformats.org/officeDocument/2006/relationships/notesMaster" Target="/ppt/notesMasters/notesMaster1.xml" Id="Rccb7947cf50a45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75a687646a409e" /><Relationship Type="http://schemas.openxmlformats.org/officeDocument/2006/relationships/notesMaster" Target="/ppt/notesMasters/notesMaster1.xml" Id="R968a8db20d494d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notes:</a:t>
            </a:r>
          </a:p>
          <a:p xmlns:a="http://schemas.openxmlformats.org/drawingml/2006/main">
            <a:r>
              <a:t>- Begin with the naming: AI Engine means the complete mathematical-solver subsystem, not only Newton.</a:t>
            </a:r>
          </a:p>
          <a:p xmlns:a="http://schemas.openxmlformats.org/drawingml/2006/main">
            <a:r>
              <a:t>- The Neural Network Engine is a separate compute block that can supply an initial estimate to the AI Engine.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JU project requirements and architecture discussion, 22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notes:</a:t>
            </a:r>
          </a:p>
          <a:p xmlns:a="http://schemas.openxmlformats.org/drawingml/2006/main">
            <a:r>
              <a:t>- RISC-V configures both accelerators but does not calculate every Newton step.</a:t>
            </a:r>
          </a:p>
          <a:p xmlns:a="http://schemas.openxmlformats.org/drawingml/2006/main">
            <a:r>
              <a:t>- AXI4-Lite carries control registers; AXI4 carries bulk tensors, vectors, matrices and addresses.</a:t>
            </a:r>
          </a:p>
          <a:p xmlns:a="http://schemas.openxmlformats.org/drawingml/2006/main">
            <a:r>
              <a:t>- Shared memory is the cleanest first connection between the Neural Network Engine and AI Engine.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architecture screenshots, 22 August 2026.</a:t>
            </a:r>
          </a:p>
          <a:p xmlns:a="http://schemas.openxmlformats.org/drawingml/2006/main">
            <a:r>
              <a:t>- Arm AMBA architecture overview: https://developer.arm.com/Architectures/AMBA</a:t>
            </a:r>
          </a:p>
          <a:p xmlns:a="http://schemas.openxmlformats.org/drawingml/2006/main">
            <a:r>
              <a:t>- RISC-V RV32 ISA reference: https://docs.riscv.org/reference/isa/unpriv/rv32.html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notes:</a:t>
            </a:r>
          </a:p>
          <a:p xmlns:a="http://schemas.openxmlformats.org/drawingml/2006/main">
            <a:r>
              <a:t>- Use a real application example: the neural network gives a fast approximate pose; Newton refines a small 6–10 variable state.</a:t>
            </a:r>
          </a:p>
          <a:p xmlns:a="http://schemas.openxmlformats.org/drawingml/2006/main">
            <a:r>
              <a:t>- A full Hessian for millions of neural-network weights is generally not the intended V1 use case.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JU project requirements and architecture discussion, 22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notes:</a:t>
            </a:r>
          </a:p>
          <a:p xmlns:a="http://schemas.openxmlformats.org/drawingml/2006/main">
            <a:r>
              <a:t>- The processor performs one setup transaction, not one transaction per Newton arithmetic operation.</a:t>
            </a:r>
          </a:p>
          <a:p xmlns:a="http://schemas.openxmlformats.org/drawingml/2006/main">
            <a:r>
              <a:t>- After the doorbell, the AI Engine owns the iterative loop until completion or a defined fault.</a:t>
            </a:r>
          </a:p>
          <a:p xmlns:a="http://schemas.openxmlformats.org/drawingml/2006/main">
            <a:r>
              <a:t>- For a non-coherent first implementation, software must manage cache flush/invalidate around shared buffers.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JU project requirements and architecture discussion, 22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notes:</a:t>
            </a:r>
          </a:p>
          <a:p xmlns:a="http://schemas.openxmlformats.org/drawingml/2006/main">
            <a:r>
              <a:t>- The target is about 30 solver modes, but Newton is the first implemented control personality.</a:t>
            </a:r>
          </a:p>
          <a:p xmlns:a="http://schemas.openxmlformats.org/drawingml/2006/main">
            <a:r>
              <a:t>- Expensive arithmetic is shared so 30 solvers do not require 30 duplicated datapaths.</a:t>
            </a:r>
          </a:p>
          <a:p xmlns:a="http://schemas.openxmlformats.org/drawingml/2006/main">
            <a:r>
              <a:t>- A future Newton hard macro can replace or harden the hottest shared blocks after RTL measurements.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JU project requirements and architecture discussion, 22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notes:</a:t>
            </a:r>
          </a:p>
          <a:p xmlns:a="http://schemas.openxmlformats.org/drawingml/2006/main">
            <a:r>
              <a:t>- This is the Newton Solver 1 FSM at the algorithm level.</a:t>
            </a:r>
          </a:p>
          <a:p xmlns:a="http://schemas.openxmlformats.org/drawingml/2006/main">
            <a:r>
              <a:t>- The loop continues internally; the CPU is not involved between iterations.</a:t>
            </a:r>
          </a:p>
          <a:p xmlns:a="http://schemas.openxmlformats.org/drawingml/2006/main">
            <a:r>
              <a:t>- Regularization and line search improve robustness when the Hessian is unsafe or the full step increases the cost.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JU project requirements and architecture discussion, 22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notes:</a:t>
            </a:r>
          </a:p>
          <a:p xmlns:a="http://schemas.openxmlformats.org/drawingml/2006/main">
            <a:r>
              <a:t>- The two-variable prototype should become a two-lane reusable datapath.</a:t>
            </a:r>
          </a:p>
          <a:p xmlns:a="http://schemas.openxmlformats.org/drawingml/2006/main">
            <a:r>
              <a:t>- For N=10, five lane cycles cover one vector pass, but the complete gradient, Hessian and direction belong to the same iteration.</a:t>
            </a:r>
          </a:p>
          <a:p xmlns:a="http://schemas.openxmlformats.org/drawingml/2006/main">
            <a:r>
              <a:t>- Use current and trial x banks; commit the trial bank only after all N values are ready.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JU project requirements and architecture discussion, 22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notes:</a:t>
            </a:r>
          </a:p>
          <a:p xmlns:a="http://schemas.openxmlformats.org/drawingml/2006/main">
            <a:r>
              <a:t>- This is hardware-first rather than software-free: software owns setup and recovery; hardware owns every iterative calculation.</a:t>
            </a:r>
          </a:p>
          <a:p xmlns:a="http://schemas.openxmlformats.org/drawingml/2006/main">
            <a:r>
              <a:t>- Prove correctness with a bit-accurate model and a 2-variable RTL core before scaling the lane scheduler and AXI integration.</a:t>
            </a:r>
          </a:p>
          <a:p xmlns:a="http://schemas.openxmlformats.org/drawingml/2006/main">
            <a:r>
              <a:t>- Only after profiling should high-activity blocks be hardened into a custom macro or custom-designed arithmetic cells.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JU project requirements and architecture discussion, 22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a9ed4e685749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5c52ed277244b6" /><Relationship Type="http://schemas.openxmlformats.org/officeDocument/2006/relationships/slideLayout" Target="/ppt/slideLayouts/slideLayout1.xml" Id="R21323e45ac6245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323e45ac6245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d04deb5cc4f5d" /><Relationship Type="http://schemas.openxmlformats.org/officeDocument/2006/relationships/notesSlide" Target="/ppt/notesSlides/notesSlide1.xml" Id="Rbc5e0ccc946b4c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27e36b19e4dd4" /><Relationship Type="http://schemas.openxmlformats.org/officeDocument/2006/relationships/notesSlide" Target="/ppt/notesSlides/notesSlide2.xml" Id="Rac050b7a1e874b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63de55fa441c8" /><Relationship Type="http://schemas.openxmlformats.org/officeDocument/2006/relationships/notesSlide" Target="/ppt/notesSlides/notesSlide3.xml" Id="R0c71637a504c4c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7e4e0708a4ef1" /><Relationship Type="http://schemas.openxmlformats.org/officeDocument/2006/relationships/notesSlide" Target="/ppt/notesSlides/notesSlide4.xml" Id="R45cd4412803547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3a8055ee5490c" /><Relationship Type="http://schemas.openxmlformats.org/officeDocument/2006/relationships/notesSlide" Target="/ppt/notesSlides/notesSlide5.xml" Id="Rb13c35abd65d46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4d5606ad14f6c" /><Relationship Type="http://schemas.openxmlformats.org/officeDocument/2006/relationships/notesSlide" Target="/ppt/notesSlides/notesSlide6.xml" Id="Re37a68cfd78a42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05b99a67845c6" /><Relationship Type="http://schemas.openxmlformats.org/officeDocument/2006/relationships/notesSlide" Target="/ppt/notesSlides/notesSlide7.xml" Id="R0c725ca240ec47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eab4d1bdd49ae" /><Relationship Type="http://schemas.openxmlformats.org/officeDocument/2006/relationships/notesSlide" Target="/ppt/notesSlides/notesSlide8.xml" Id="R8d8e72d5c5644d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EF047F-2D01-4103-BC39-3D108205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48552C-271F-4AB7-A440-B4460768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050" b="1">
                <a:solidFill>
                  <a:srgbClr val="2673D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73DD"/>
                </a:solidFill>
                <a:latin typeface="Aptos"/>
                <a:ea typeface="Aptos"/>
                <a:cs typeface="Aptos"/>
              </a:rPr>
              <a:t>JU RESEARCH • SIMPLE ARCHITECTURE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C3D648-1A05-4F3B-8DAB-A7098D95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6191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7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AI Math Engine +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7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Neural Network Engine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6CC55-A45E-4369-B25F-C5106F73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5762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0">
                <a:solidFill>
                  <a:srgbClr val="5C6F8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C6F82"/>
                </a:solidFill>
                <a:latin typeface="Aptos"/>
                <a:ea typeface="Aptos"/>
                <a:cs typeface="Aptos"/>
              </a:rPr>
              <a:t>A 32-bit RISC-V SoC where the neural engine predicts and the AI Engine solves or refines complex mathematics in hardware.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5F2C3-B9CB-465F-AD15-33AACD22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73DD"/>
          </a:solidFill>
          <a:ln xmlns:a="http://schemas.openxmlformats.org/drawingml/2006/main" w="19050">
            <a:solidFill>
              <a:srgbClr val="2673D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NEWTON FIRST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28239-2C90-425C-BCD3-E690606F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43350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4DE8"/>
          </a:solidFill>
          <a:ln xmlns:a="http://schemas.openxmlformats.org/drawingml/2006/main" w="19050">
            <a:solidFill>
              <a:srgbClr val="7A4DE8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≈30 SOLVERS TARGET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E0ED8-0786-4A1D-B9BF-769EDEBA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43350"/>
            <a:ext cx="2114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8D"/>
          </a:solidFill>
          <a:ln xmlns:a="http://schemas.openxmlformats.org/drawingml/2006/main" w="19050">
            <a:solidFill>
              <a:srgbClr val="0F9D8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HARDWARE INNER LOOP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FA13E6-49BC-41CA-BD18-C287492F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23950"/>
            <a:ext cx="32194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19050">
            <a:solidFill>
              <a:srgbClr val="7A4DE8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6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NEURAL NETWORK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6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ENGINE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6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fast prediction x₀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643B00-71CC-44B1-ADF3-167ADD8E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32194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4F8F4"/>
          </a:solidFill>
          <a:ln xmlns:a="http://schemas.openxmlformats.org/drawingml/2006/main" w="19050">
            <a:solidFill>
              <a:srgbClr val="0F9D8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SHARED MEMORY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5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result buffer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9A3E1B-187F-47DB-99C2-152A20A9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43400"/>
            <a:ext cx="32194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673D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6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AI ENGINE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6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Newton + future solver library</a:t>
            </a:r>
          </a:p>
        </p:txBody>
      </p:sp>
      <p:cxnSp>
        <p:nvCxnSpPr>
          <p:cNvPr id="30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134475" y="219075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673DD"/>
            </a:solidFill>
            <a:prstDash val="solid"/>
            <a:tailEnd type="triangle" w="med" len="med"/>
          </a:ln>
        </p:spPr>
      </p:cxnSp>
      <p:cxnSp>
        <p:nvCxnSpPr>
          <p:cNvPr id="31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134475" y="367665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673DD"/>
            </a:solidFill>
            <a:prstDash val="solid"/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C1E795-3380-4E8E-B809-C4086647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81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975" b="1">
                <a:solidFill>
                  <a:srgbClr val="2673D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673DD"/>
                </a:solidFill>
                <a:latin typeface="Aptos"/>
                <a:ea typeface="Aptos"/>
                <a:cs typeface="Aptos"/>
              </a:rPr>
              <a:t>prediction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4D4C9E-33F3-43FA-ACA2-969E2124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975" b="1">
                <a:solidFill>
                  <a:srgbClr val="2673D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673DD"/>
                </a:solidFill>
                <a:latin typeface="Aptos"/>
                <a:ea typeface="Aptos"/>
                <a:cs typeface="Aptos"/>
              </a:rPr>
              <a:t>job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2A51D4-A244-41D7-9E80-81C71338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The whole solver subsystem is your AI Engine.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2F72C7-7F8F-4C7C-B01B-C0019D3A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350" b="0">
                <a:solidFill>
                  <a:srgbClr val="5C6F8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F82"/>
                </a:solidFill>
                <a:latin typeface="Aptos"/>
                <a:ea typeface="Aptos"/>
                <a:cs typeface="Aptos"/>
              </a:rPr>
              <a:t>Newton is Solver 1 inside it; the Neural Network Engine is a separate peer accelerator.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CFCAD0-EDC3-476A-B4FF-426E84D7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A97363-2BE6-4109-B916-1477B4AD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695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82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JU RESEARCH • 32-BIT RISC-V • HARDWARE AI MATH ENGINE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CA7DCA-A00C-422D-B661-290CD32F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543675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82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01 / 8</a:t>
            </a:r>
          </a:p>
        </p:txBody>
      </p:sp>
    </p:spTree>
    <p:extLst>
      <p:ext uri="{BB962C8B-B14F-4D97-AF65-F5344CB8AC3E}">
        <p14:creationId xmlns:p14="http://schemas.microsoft.com/office/powerpoint/2010/main" val="9430229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439621-0764-450E-839F-9AB78A19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9AC8A2-41A1-494F-8EC4-96A7E691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985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6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Two engines do different jobs—and work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C2966-73AB-457D-A137-06B4FC61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24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975" b="1">
                <a:solidFill>
                  <a:srgbClr val="2673D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673DD"/>
                </a:solidFill>
                <a:latin typeface="Aptos"/>
                <a:ea typeface="Aptos"/>
                <a:cs typeface="Aptos"/>
              </a:rPr>
              <a:t>SYSTEM 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73478-E63B-4256-81A3-E9CDEEAE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8FA22-DD38-4CAF-871F-1A5395E6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757BAA-CD3F-4566-A6C0-0FCEBAA0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695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82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JU RESEARCH • 32-BIT RISC-V • HARDWARE AI MATH 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9B007D-1D46-44EA-88F2-863E0FB7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543675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82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02 / 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673CE6-89B1-4CE4-9E49-4A07A1D8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162050"/>
            <a:ext cx="32385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32-bit RISC-V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5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software + system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F9CFDF-6BDC-490B-AB68-D3CFD435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32385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19050">
            <a:solidFill>
              <a:srgbClr val="10233F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AXI4 SoC Interconnect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760525-6DC9-4E6D-9E30-842EBF00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24250"/>
            <a:ext cx="33337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19050">
            <a:solidFill>
              <a:srgbClr val="7A4DE8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NEURAL NETWORK ENGINE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5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GEMM • convolution • activation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0B9CA5-D93A-4BA4-BB7D-FBE116D1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24250"/>
            <a:ext cx="33337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673D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AI ENGINE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5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Newton + approximately 30 solvers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16AA7A-B74A-4112-A7F3-31CE43F3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7432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8EE"/>
          </a:solidFill>
          <a:ln xmlns:a="http://schemas.openxmlformats.org/drawingml/2006/main" w="19050">
            <a:solidFill>
              <a:srgbClr val="3BA55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I/O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sensors • PCIe • Ethernet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C76FCD-01B8-4A39-8625-80DC2AC6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48250"/>
            <a:ext cx="32385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4F8F4"/>
          </a:solidFill>
          <a:ln xmlns:a="http://schemas.openxmlformats.org/drawingml/2006/main" w="19050">
            <a:solidFill>
              <a:srgbClr val="0F9D8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SHARED SRAM / DDR</a:t>
            </a:r>
          </a:p>
        </p:txBody>
      </p:sp>
      <p:cxnSp>
        <p:nvCxnSpPr>
          <p:cNvPr id="45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096000" y="188595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59E0B"/>
            </a:solidFill>
            <a:prstDash val="solid"/>
            <a:tailEnd type="triangle" w="med" len="med"/>
          </a:ln>
        </p:spPr>
      </p:cxnSp>
      <p:cxnSp>
        <p:nvCxnSpPr>
          <p:cNvPr id="46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2638425" y="2857500"/>
            <a:ext cx="3457575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F59E0B"/>
            </a:solidFill>
            <a:prstDash val="solid"/>
            <a:tailEnd type="triangle" w="med" len="med"/>
          </a:ln>
        </p:spPr>
      </p:cxnSp>
      <p:cxnSp>
        <p:nvCxnSpPr>
          <p:cNvPr id="47" name=""/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096000" y="2857500"/>
            <a:ext cx="3457575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F59E0B"/>
            </a:solidFill>
            <a:prstDash val="solid"/>
            <a:tailEnd type="triangle" w="med" len="med"/>
          </a:ln>
        </p:spPr>
      </p:cxnSp>
      <p:cxnSp>
        <p:nvCxnSpPr>
          <p:cNvPr id="48" name=""/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2638425" y="4400550"/>
            <a:ext cx="3457575" cy="647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2673DD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1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6096000" y="4400550"/>
            <a:ext cx="3457575" cy="647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2673DD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409950" y="5410200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673DD"/>
            </a:solidFill>
            <a:prstDash val="solid"/>
            <a:tailEnd type="triangle" w="med" len="med"/>
          </a:ln>
        </p:spPr>
      </p:cxnSp>
      <p:cxnSp>
        <p:nvCxnSpPr>
          <p:cNvPr id="5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305300" y="3962400"/>
            <a:ext cx="3581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A4DE8"/>
            </a:solidFill>
            <a:prstDash val="dash"/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764C5C-7B32-42EA-9F9C-392D7255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812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0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AXI4-Lite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785992-94FE-4567-BB66-491AB03D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829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975" b="1">
                <a:solidFill>
                  <a:srgbClr val="7A4DE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4DE8"/>
                </a:solidFill>
                <a:latin typeface="Aptos"/>
                <a:ea typeface="Aptos"/>
                <a:cs typeface="Aptos"/>
              </a:rPr>
              <a:t>optional AXI-Stream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469E3A-EFC1-44F3-831D-1D2E2FDE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9245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200" b="0">
                <a:solidFill>
                  <a:srgbClr val="5C6F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F82"/>
                </a:solidFill>
                <a:latin typeface="Aptos"/>
                <a:ea typeface="Aptos"/>
                <a:cs typeface="Aptos"/>
              </a:rPr>
              <a:t>V1 recommendation: exchange through shared memory; add direct streaming only after the basic system works.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CA87AC-DC07-4D2F-B48A-6429361F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007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644CD3-6070-4C3B-B806-B96F5DFD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1150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900" b="1">
                <a:solidFill>
                  <a:srgbClr val="5C6F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F82"/>
                </a:solidFill>
                <a:latin typeface="Aptos"/>
                <a:ea typeface="Aptos"/>
                <a:cs typeface="Aptos"/>
              </a:rPr>
              <a:t>CONTROL / AXI4-Lite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4C540C-DC73-4DD5-A7DB-E232D9C8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2007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AB609C-1D5D-4585-B87F-F08FEB41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61150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900" b="1">
                <a:solidFill>
                  <a:srgbClr val="5C6F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F82"/>
                </a:solidFill>
                <a:latin typeface="Aptos"/>
                <a:ea typeface="Aptos"/>
                <a:cs typeface="Aptos"/>
              </a:rPr>
              <a:t>DATA + ADDRESS / AXI4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6CADBB-85B8-49C3-B09C-81F7BA0F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2007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547462-FBAE-49AF-8AF2-E12370BA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61150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900" b="1">
                <a:solidFill>
                  <a:srgbClr val="5C6F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F82"/>
                </a:solidFill>
                <a:latin typeface="Aptos"/>
                <a:ea typeface="Aptos"/>
                <a:cs typeface="Aptos"/>
              </a:rPr>
              <a:t>INTERRUPT / EVENT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10C1DE-A412-4D59-AD0D-3552E55D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62007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6863B9-A499-42B1-AAF1-0067D4AC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61150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900" b="1">
                <a:solidFill>
                  <a:srgbClr val="5C6F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F82"/>
                </a:solidFill>
                <a:latin typeface="Aptos"/>
                <a:ea typeface="Aptos"/>
                <a:cs typeface="Aptos"/>
              </a:rPr>
              <a:t>OPTIONAL STREAM</a:t>
            </a:r>
          </a:p>
        </p:txBody>
      </p:sp>
    </p:spTree>
    <p:extLst>
      <p:ext uri="{BB962C8B-B14F-4D97-AF65-F5344CB8AC3E}">
        <p14:creationId xmlns:p14="http://schemas.microsoft.com/office/powerpoint/2010/main" val="9096971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B31653-D155-4336-8B7B-D3F42E6A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F6F3E6-1809-4193-90D1-EB9464D6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985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6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The neural engine predicts; the AI Engine refines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94907-80A9-4ABB-B7A0-3A48E53F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24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975" b="1">
                <a:solidFill>
                  <a:srgbClr val="2673D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673DD"/>
                </a:solidFill>
                <a:latin typeface="Aptos"/>
                <a:ea typeface="Aptos"/>
                <a:cs typeface="Aptos"/>
              </a:rPr>
              <a:t>WORKING TOGETHER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D85D7-CFB9-411A-905D-AAE00384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745E45-7F50-42B4-8CB0-0AADEA48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45B40-A431-4753-83F6-268A75EA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695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82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JU RESEARCH • 32-BIT RISC-V • HARDWARE AI MATH 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63E7D-EA46-4328-B9A8-2DBE6C0A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543675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82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03 / 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E9268-9C1B-4C98-B910-BCBC7F29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2381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19050">
            <a:solidFill>
              <a:srgbClr val="7A4DE8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1  NEURAL ENGINE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produce a fast estimate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DA244-9EA7-4C81-AFE0-403F4F72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2381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4F8F4"/>
          </a:solidFill>
          <a:ln xmlns:a="http://schemas.openxmlformats.org/drawingml/2006/main" w="19050">
            <a:solidFill>
              <a:srgbClr val="0F9D8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2  SHARED BUFFER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store x₀ + confidence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18C02B-9337-448D-BD38-6DA5C054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09750"/>
            <a:ext cx="2381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673D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3  AI ENGINE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select Newton and iterate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D9760F-0822-426E-8CF8-C563BE0F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809750"/>
            <a:ext cx="21717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EE"/>
          </a:solidFill>
          <a:ln xmlns:a="http://schemas.openxmlformats.org/drawingml/2006/main" w="19050">
            <a:solidFill>
              <a:srgbClr val="3BA55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4  FINAL RESULT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accurate refined x*</a:t>
            </a:r>
          </a:p>
        </p:txBody>
      </p: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33700" y="23431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673DD"/>
            </a:solidFill>
            <a:prstDash val="solid"/>
            <a:tailEnd type="triangle" w="med" len="med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905500" y="23431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673DD"/>
            </a:solidFill>
            <a:prstDash val="solid"/>
            <a:tailEnd type="triangle" w="med" len="med"/>
          </a:ln>
        </p:spPr>
      </p:cxnSp>
      <p:cxnSp>
        <p:nvCxnSpPr>
          <p:cNvPr id="4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877300" y="23431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673DD"/>
            </a:solidFill>
            <a:prstDash val="solid"/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EF47A7-2870-4BAB-9487-5D5C50B9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447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050" b="1">
                <a:solidFill>
                  <a:srgbClr val="2673D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73DD"/>
                </a:solidFill>
                <a:latin typeface="Aptos"/>
                <a:ea typeface="Aptos"/>
                <a:cs typeface="Aptos"/>
              </a:rPr>
              <a:t>prediction / initial x₀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2F8D71-74E8-401D-A011-AE8E1A1E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478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050" b="1">
                <a:solidFill>
                  <a:srgbClr val="2673D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73DD"/>
                </a:solidFill>
                <a:latin typeface="Aptos"/>
                <a:ea typeface="Aptos"/>
                <a:cs typeface="Aptos"/>
              </a:rPr>
              <a:t>job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8A6627-6DE5-4DEF-9722-A18C9199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47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050" b="1">
                <a:solidFill>
                  <a:srgbClr val="2673D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73DD"/>
                </a:solidFill>
                <a:latin typeface="Aptos"/>
                <a:ea typeface="Aptos"/>
                <a:cs typeface="Aptos"/>
              </a:rPr>
              <a:t>optimized x*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B510D4-4C9B-4DD6-B84B-0E3A28F9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19812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D7E1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DAEE57-1F9D-4081-B693-871569C5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Example: 10-variable pose refinement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D7FD9F-CBD2-4DF6-91B9-4822E0B5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75" b="1">
                <a:solidFill>
                  <a:srgbClr val="7A4D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A4DE8"/>
                </a:solidFill>
                <a:latin typeface="Aptos"/>
                <a:ea typeface="Aptos"/>
                <a:cs typeface="Aptos"/>
              </a:rPr>
              <a:t>Neural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1FED7A-C32D-4C94-8B33-4FAF9565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3434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x₀ = [position, rotation, scale, …]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4C2211-3EC7-4F19-B71E-75AA1253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958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75" b="1">
                <a:solidFill>
                  <a:srgbClr val="2673D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673DD"/>
                </a:solidFill>
                <a:latin typeface="Aptos"/>
                <a:ea typeface="Aptos"/>
                <a:cs typeface="Aptos"/>
              </a:rPr>
              <a:t>Newton hardware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FFAA1F-5294-493A-BF7B-59B5143E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577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evaluate g/H → solve direction → line search → repeat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C8FB20-248B-4876-ADE3-2EBFA15C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81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75" b="1">
                <a:solidFill>
                  <a:srgbClr val="3BA55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BA55D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46AB59-A6BA-45E8-966A-3FCB34FA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2291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550" b="1">
                <a:solidFill>
                  <a:srgbClr val="3BA55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3BA55D"/>
                </a:solidFill>
                <a:latin typeface="Aptos"/>
                <a:ea typeface="Aptos"/>
                <a:cs typeface="Aptos"/>
              </a:rPr>
              <a:t>x*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AD0541-9849-4F85-8D14-DACFFE0A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705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75" b="0">
                <a:solidFill>
                  <a:srgbClr val="5C6F8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F82"/>
                </a:solidFill>
                <a:latin typeface="Aptos"/>
                <a:ea typeface="Aptos"/>
                <a:cs typeface="Aptos"/>
              </a:rPr>
              <a:t>more accurate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ABE399-D688-4007-87F0-C80F83A6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721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75" b="1">
                <a:solidFill>
                  <a:srgbClr val="5C6F8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C6F82"/>
                </a:solidFill>
                <a:latin typeface="Aptos"/>
                <a:ea typeface="Aptos"/>
                <a:cs typeface="Aptos"/>
              </a:rPr>
              <a:t>The AI Engine complements the neural network; it does not replace neural inference.</a:t>
            </a:r>
          </a:p>
        </p:txBody>
      </p:sp>
    </p:spTree>
    <p:extLst>
      <p:ext uri="{BB962C8B-B14F-4D97-AF65-F5344CB8AC3E}">
        <p14:creationId xmlns:p14="http://schemas.microsoft.com/office/powerpoint/2010/main" val="9092588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BCCCF07-5DC1-42EA-B39E-0F00F2EA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59666A-DA62-45CD-A99D-B9A0ED25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985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6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One job moves through hardware without CPU arithmetic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7DDB9A-4FA3-4052-B161-528EB711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24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975" b="1">
                <a:solidFill>
                  <a:srgbClr val="2673D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673DD"/>
                </a:solidFill>
                <a:latin typeface="Aptos"/>
                <a:ea typeface="Aptos"/>
                <a:cs typeface="Aptos"/>
              </a:rPr>
              <a:t>JOB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EC9A9-E83B-4322-A1AD-CF621D31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4CE50-9D7A-4BAF-ADB2-E6F85FD8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F96B9D-9FBB-4475-8BBA-3D2D849F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695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82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JU RESEARCH • 32-BIT RISC-V • HARDWARE AI MATH 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50E1FB-02CB-448E-896F-A8DC8843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543675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82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04 / 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66574-2C46-4572-94CF-58E913FC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00150"/>
            <a:ext cx="20955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RV32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FD7DED-42FE-4EED-AE32-CE27FE72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200150"/>
            <a:ext cx="20955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19050">
            <a:solidFill>
              <a:srgbClr val="7A4DE8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NN ENGINE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62259C-D2E0-4900-8FB3-A2E3BDC0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200150"/>
            <a:ext cx="20955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4F8F4"/>
          </a:solidFill>
          <a:ln xmlns:a="http://schemas.openxmlformats.org/drawingml/2006/main" w="19050">
            <a:solidFill>
              <a:srgbClr val="0F9D8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SHARED MEMORY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B7E2A1-43AD-4B21-BF5C-85FCCE21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200150"/>
            <a:ext cx="20955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673D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AI ENGINE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15DC9F-CCC2-4299-BE3A-F27196C3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1695450"/>
            <a:ext cx="190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BB9613-F81C-4AC3-A8D8-F246AB87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695450"/>
            <a:ext cx="190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71B2EC-30D4-48A8-B6AD-48DCA392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695450"/>
            <a:ext cx="190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45D1F1-E7AD-4645-9209-ED3AF0DB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695450"/>
            <a:ext cx="190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C3A4BB-9911-411B-83C7-382ED5A1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019300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8ABB37-ECED-4142-BA3D-423162B6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19300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5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924050" y="2038350"/>
            <a:ext cx="2743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59E0B"/>
            </a:solidFill>
            <a:prstDash val="solid"/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EE73EA-62B3-4398-8125-59C72B27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800225"/>
            <a:ext cx="2552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1  configure + start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B9A76D-56BF-48E1-945F-06279AA1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95550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6B0037-7AA3-4596-8914-D35828F7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95550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9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4705350" y="2514600"/>
            <a:ext cx="2743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673DD"/>
            </a:solidFill>
            <a:prstDash val="solid"/>
            <a:tail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FB0FCC-5A88-4C16-ACB1-5AB23F30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76475"/>
            <a:ext cx="2552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200" b="1">
                <a:solidFill>
                  <a:srgbClr val="2673D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673DD"/>
                </a:solidFill>
                <a:latin typeface="Aptos"/>
                <a:ea typeface="Aptos"/>
                <a:cs typeface="Aptos"/>
              </a:rPr>
              <a:t>2  write prediction x₀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D8AA5A-808F-4101-BA8E-644D8010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71800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9E62FB-5B9E-423A-8388-9429AD39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971800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3" name=""/>
          <p:cNvCxnSpPr>
            <a:stCxn xmlns:a="http://schemas.openxmlformats.org/drawingml/2006/main" id="24" idx="1"/>
            <a:endCxn xmlns:a="http://schemas.openxmlformats.org/drawingml/2006/main" id="25" idx="3"/>
          </p:cNvCxnSpPr>
          <p:nvPr/>
        </p:nvCxnSpPr>
        <p:spPr>
          <a:xfrm xmlns:a="http://schemas.openxmlformats.org/drawingml/2006/main" flipH="1">
            <a:off x="1924050" y="2990850"/>
            <a:ext cx="2743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84A8A"/>
            </a:solidFill>
            <a:prstDash val="dash"/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2FE757-418F-43E1-BED5-165CA8DA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752725"/>
            <a:ext cx="2552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200" b="1">
                <a:solidFill>
                  <a:srgbClr val="E84A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4A8A"/>
                </a:solidFill>
                <a:latin typeface="Aptos"/>
                <a:ea typeface="Aptos"/>
                <a:cs typeface="Aptos"/>
              </a:rPr>
              <a:t>3  NN completion interrupt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7042D1-AF68-45FE-92F1-B1C769EF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448050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0C62AB-6775-40A8-96CF-4880722B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48050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7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1924050" y="3467100"/>
            <a:ext cx="5524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673DD"/>
            </a:solidFill>
            <a:prstDash val="solid"/>
            <a:tailEnd type="triangle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C7C67B-2335-4324-B05E-ECDC7145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228975"/>
            <a:ext cx="533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200" b="1">
                <a:solidFill>
                  <a:srgbClr val="2673D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673DD"/>
                </a:solidFill>
                <a:latin typeface="Aptos"/>
                <a:ea typeface="Aptos"/>
                <a:cs typeface="Aptos"/>
              </a:rPr>
              <a:t>4  write AI job descriptor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B5B50B-AD18-41DD-A574-654C4938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924300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ECA195-7C3B-41A9-9B3A-A74590F5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924300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91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1924050" y="3943350"/>
            <a:ext cx="8305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59E0B"/>
            </a:solidFill>
            <a:prstDash val="solid"/>
            <a:tailEnd type="triangle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641DF6-46DE-4133-90C9-18217CEB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705225"/>
            <a:ext cx="811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5  ring AI doorbell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01A428-95F0-4D59-AE40-B3C036B8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00550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D2FCC0-C4C5-4829-A69F-EB3F4F59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400550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95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7486650" y="4419600"/>
            <a:ext cx="2743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673DD"/>
            </a:solidFill>
            <a:prstDash val="solid"/>
            <a:tailEnd type="triangle" w="med" len="me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51C9A2-9BBD-42C8-A0B5-7290AF01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81475"/>
            <a:ext cx="2552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200" b="1">
                <a:solidFill>
                  <a:srgbClr val="2673D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673DD"/>
                </a:solidFill>
                <a:latin typeface="Aptos"/>
                <a:ea typeface="Aptos"/>
                <a:cs typeface="Aptos"/>
              </a:rPr>
              <a:t>6  read x₀ + equation data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4E548B-68CC-4510-A27C-C35EE381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876800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26234A-833F-464D-BCB7-03B1C7D5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76800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99" name=""/>
          <p:cNvCxnSpPr>
            <a:stCxn xmlns:a="http://schemas.openxmlformats.org/drawingml/2006/main" id="40" idx="1"/>
            <a:endCxn xmlns:a="http://schemas.openxmlformats.org/drawingml/2006/main" id="41" idx="3"/>
          </p:cNvCxnSpPr>
          <p:nvPr/>
        </p:nvCxnSpPr>
        <p:spPr>
          <a:xfrm xmlns:a="http://schemas.openxmlformats.org/drawingml/2006/main" flipH="1">
            <a:off x="7486650" y="4895850"/>
            <a:ext cx="2743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673DD"/>
            </a:solidFill>
            <a:prstDash val="solid"/>
            <a:tailEnd type="triangle" w="med" len="me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CC36EA8-4CEA-43DC-BBC2-00D0911A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57725"/>
            <a:ext cx="2552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200" b="1">
                <a:solidFill>
                  <a:srgbClr val="2673D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673DD"/>
                </a:solidFill>
                <a:latin typeface="Aptos"/>
                <a:ea typeface="Aptos"/>
                <a:cs typeface="Aptos"/>
              </a:rPr>
              <a:t>7  write optimized x*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3A8F15-E8B6-4F96-8F05-9200405A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353050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AD76F2C-4987-407A-AC44-7294372E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53050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3" name=""/>
          <p:cNvCxnSpPr>
            <a:stCxn xmlns:a="http://schemas.openxmlformats.org/drawingml/2006/main" id="44" idx="1"/>
            <a:endCxn xmlns:a="http://schemas.openxmlformats.org/drawingml/2006/main" id="45" idx="3"/>
          </p:cNvCxnSpPr>
          <p:nvPr/>
        </p:nvCxnSpPr>
        <p:spPr>
          <a:xfrm xmlns:a="http://schemas.openxmlformats.org/drawingml/2006/main" flipH="1">
            <a:off x="1924050" y="5372100"/>
            <a:ext cx="8305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84A8A"/>
            </a:solidFill>
            <a:prstDash val="dash"/>
            <a:tailEnd type="triangle" w="med" len="med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CFE4FC1-BAFD-4D9B-8100-6C57EE58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133975"/>
            <a:ext cx="811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200" b="1">
                <a:solidFill>
                  <a:srgbClr val="E84A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4A8A"/>
                </a:solidFill>
                <a:latin typeface="Aptos"/>
                <a:ea typeface="Aptos"/>
                <a:cs typeface="Aptos"/>
              </a:rPr>
              <a:t>8  AI completion interrupt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7F5B21E-8FB3-47A4-8FB9-82989932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562600"/>
            <a:ext cx="19812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673D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B5EE455-9837-466C-8E17-6FC042F0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6197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050" b="1">
                <a:solidFill>
                  <a:srgbClr val="2673D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73DD"/>
                </a:solidFill>
                <a:latin typeface="Aptos"/>
                <a:ea typeface="Aptos"/>
                <a:cs typeface="Aptos"/>
              </a:rPr>
              <a:t>Newton loop stays in hardware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B088721-CA39-4961-B44D-7F4B802F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864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118EA00-F68B-49A8-B205-4DCFF699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00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900" b="1">
                <a:solidFill>
                  <a:srgbClr val="5C6F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F82"/>
                </a:solidFill>
                <a:latin typeface="Aptos"/>
                <a:ea typeface="Aptos"/>
                <a:cs typeface="Aptos"/>
              </a:rPr>
              <a:t>CONTROL / AXI4-Lite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4F33911-9F19-4486-B2FC-4221D5E7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0864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1DE6AE2-29C5-4170-9EBA-244FFEDE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6000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900" b="1">
                <a:solidFill>
                  <a:srgbClr val="5C6F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F82"/>
                </a:solidFill>
                <a:latin typeface="Aptos"/>
                <a:ea typeface="Aptos"/>
                <a:cs typeface="Aptos"/>
              </a:rPr>
              <a:t>DATA + ADDRESS / AXI4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79F8783-E52E-46E5-BE41-01462A21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0864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4C67630-5733-4E20-8964-E9AB22A0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6000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900" b="1">
                <a:solidFill>
                  <a:srgbClr val="5C6F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F82"/>
                </a:solidFill>
                <a:latin typeface="Aptos"/>
                <a:ea typeface="Aptos"/>
                <a:cs typeface="Aptos"/>
              </a:rPr>
              <a:t>INTERRUPT / EVENT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419B0A1-1C17-47CC-805B-F1C1A410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60864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D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DC0DFE1-B334-4252-A90C-748D77B0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6000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900" b="1">
                <a:solidFill>
                  <a:srgbClr val="5C6F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F82"/>
                </a:solidFill>
                <a:latin typeface="Aptos"/>
                <a:ea typeface="Aptos"/>
                <a:cs typeface="Aptos"/>
              </a:rPr>
              <a:t>OPTIONAL STREAM</a:t>
            </a:r>
          </a:p>
        </p:txBody>
      </p:sp>
    </p:spTree>
    <p:extLst>
      <p:ext uri="{BB962C8B-B14F-4D97-AF65-F5344CB8AC3E}">
        <p14:creationId xmlns:p14="http://schemas.microsoft.com/office/powerpoint/2010/main" val="4019932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DBED06-9178-46D8-973E-B7BEF761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BD5EEE-A087-4714-9CEC-20F6C607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985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6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Inside the AI Engine, control selects the solver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91EA6-6636-400F-9A0A-3FB705C2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24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975" b="1">
                <a:solidFill>
                  <a:srgbClr val="2673D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673DD"/>
                </a:solidFill>
                <a:latin typeface="Aptos"/>
                <a:ea typeface="Aptos"/>
                <a:cs typeface="Aptos"/>
              </a:rPr>
              <a:t>AI ENGINE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C2551-3508-4D4F-9329-21D3B39E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3783F2-70F8-4D67-8547-FD0571AC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EF03F4-6B7A-4876-B958-0180A3D8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695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82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JU RESEARCH • 32-BIT RISC-V • HARDWARE AI MATH 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C309B6-F574-433D-9CE3-A088678E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543675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82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05 / 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6954B-997B-45BD-BD49-7CE43AF7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29337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JOB DESCRIPTOR QUEUE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solver_id • N • pointers • limits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580EBC-915F-47FC-A3B3-C064AD51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19350"/>
            <a:ext cx="29337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DISPATCHER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validate + select solver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4E5607-89AF-431E-A95F-FD226458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29337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19050">
            <a:solidFill>
              <a:srgbClr val="7A4DE8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SOLVER CONTROL STORE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Newton V1 • LM • CG • BFGS • 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8665ED-A43B-4FE4-8B5E-B26D8863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95850"/>
            <a:ext cx="29337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673D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SELECTED SOLVER FSM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Newton controller first</a:t>
            </a:r>
          </a:p>
        </p:txBody>
      </p:sp>
      <p:cxnSp>
        <p:nvCxnSpPr>
          <p:cNvPr id="42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2057400" y="198120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59E0B"/>
            </a:solidFill>
            <a:prstDash val="solid"/>
            <a:tailEnd type="triangle" w="med" len="med"/>
          </a:ln>
        </p:spPr>
      </p:cxnSp>
      <p:cxnSp>
        <p:nvCxnSpPr>
          <p:cNvPr id="43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2057400" y="314325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59E0B"/>
            </a:solidFill>
            <a:prstDash val="solid"/>
            <a:tailEnd type="triangle" w="med" len="med"/>
          </a:ln>
        </p:spPr>
      </p:cxnSp>
      <p:cxnSp>
        <p:nvCxnSpPr>
          <p:cNvPr id="44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2057400" y="441960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59E0B"/>
            </a:solidFill>
            <a:prstDash val="solid"/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EFE2F6-FA0D-48F5-825F-C08D767A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143000"/>
            <a:ext cx="6191250" cy="30003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D7E1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CAD43-6C9A-438F-B1ED-6AA69C4C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2001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125" b="1">
                <a:solidFill>
                  <a:srgbClr val="2673D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673DD"/>
                </a:solidFill>
                <a:latin typeface="Aptos"/>
                <a:ea typeface="Aptos"/>
                <a:cs typeface="Aptos"/>
              </a:rPr>
              <a:t>SHARED COMPUTE FABRIC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43BB24-C3BA-4387-9938-3759AEEF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466850"/>
            <a:ext cx="23622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673D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Equation + derivative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evaluator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0EDB6D-CDA4-4E9F-8199-414D4D2E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66850"/>
            <a:ext cx="23622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673D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2-lane vector / FMA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engine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331162-5D35-4765-A1BC-A5747D97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57500"/>
            <a:ext cx="23622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673D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Matrix factorization +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linear solve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2E0898-3A6D-49EF-98C1-D049099E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57500"/>
            <a:ext cx="23622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673D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Divider + line search +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convergence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C9F750-0A28-4C35-82DF-9DD08528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57700"/>
            <a:ext cx="52959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4F8F4"/>
          </a:solidFill>
          <a:ln xmlns:a="http://schemas.openxmlformats.org/drawingml/2006/main" w="19050">
            <a:solidFill>
              <a:srgbClr val="0F9D8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LOCAL SRAM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x • g • H • p • constants • temporary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C0C5F2-C61B-4091-85BE-B569E6F2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019300"/>
            <a:ext cx="14287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8EE"/>
          </a:solidFill>
          <a:ln xmlns:a="http://schemas.openxmlformats.org/drawingml/2006/main" w="19050">
            <a:solidFill>
              <a:srgbClr val="3BA55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2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RESULT + STATUS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20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x* • iterations • reason code</a:t>
            </a:r>
          </a:p>
        </p:txBody>
      </p:sp>
      <p:cxnSp>
        <p:nvCxnSpPr>
          <p:cNvPr id="53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3524250" y="2643188"/>
            <a:ext cx="476250" cy="26241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F59E0B"/>
            </a:solidFill>
            <a:prstDash val="solid"/>
            <a:tailEnd type="triangle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1489E4-0C87-43D1-9751-9F259E17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552950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9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kernel issue</a:t>
            </a:r>
          </a:p>
        </p:txBody>
      </p:sp>
      <p:cxnSp>
        <p:nvCxnSpPr>
          <p:cNvPr id="55" name=""/>
          <p:cNvCxnSpPr>
            <a:stCxn xmlns:a="http://schemas.openxmlformats.org/drawingml/2006/main" id="15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7096125" y="4143375"/>
            <a:ext cx="47625" cy="3143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673DD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15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10191750" y="2643188"/>
            <a:ext cx="114300" cy="476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BA55D"/>
            </a:solidFill>
            <a:prstDash val="solid"/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FB26C1-046B-4C5C-BFB7-F32FB80C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0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CONTROL PATH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8F16D4-86BC-4708-9A31-597AC2F1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8102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050" b="0">
                <a:solidFill>
                  <a:srgbClr val="5C6F8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F82"/>
                </a:solidFill>
                <a:latin typeface="Aptos"/>
                <a:ea typeface="Aptos"/>
                <a:cs typeface="Aptos"/>
              </a:rPr>
              <a:t>chooses the algorithm and schedules kernels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7FA5A9-8936-4D30-A8F7-2AC1362C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810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050" b="1">
                <a:solidFill>
                  <a:srgbClr val="2673D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73DD"/>
                </a:solidFill>
                <a:latin typeface="Aptos"/>
                <a:ea typeface="Aptos"/>
                <a:cs typeface="Aptos"/>
              </a:rPr>
              <a:t>DATA PATH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4EA4B8-8C6F-46BF-BF49-043C17E0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8102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050" b="0">
                <a:solidFill>
                  <a:srgbClr val="5C6F8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C6F82"/>
                </a:solidFill>
                <a:latin typeface="Aptos"/>
                <a:ea typeface="Aptos"/>
                <a:cs typeface="Aptos"/>
              </a:rPr>
              <a:t>moves operands through shared arithmetic and SRAM</a:t>
            </a:r>
          </a:p>
        </p:txBody>
      </p:sp>
    </p:spTree>
    <p:extLst>
      <p:ext uri="{BB962C8B-B14F-4D97-AF65-F5344CB8AC3E}">
        <p14:creationId xmlns:p14="http://schemas.microsoft.com/office/powerpoint/2010/main" val="6249244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22500C-ADCD-4F89-B237-57463A69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E9D2AC-B9D8-4CA3-A63E-121E789B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985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6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Newton runs as a closed hardware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C5B4D-3F17-4460-96B9-2C6BF6D8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24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975" b="1">
                <a:solidFill>
                  <a:srgbClr val="2673D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673DD"/>
                </a:solidFill>
                <a:latin typeface="Aptos"/>
                <a:ea typeface="Aptos"/>
                <a:cs typeface="Aptos"/>
              </a:rPr>
              <a:t>NEWTON SOLVER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B1B664-8B82-40C0-BDCF-10ADFA6F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7FC3F4-49B5-44E9-906B-D39AE3D2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1220E-AB28-4941-8706-E7D53F34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695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82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JU RESEARCH • 32-BIT RISC-V • HARDWARE AI MATH 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BD6DAA-A99A-4C78-8CB1-8F72302C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543675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82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06 / 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F4898F-B9E2-4843-826C-A81D8EE0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17145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E4F8F4"/>
          </a:solidFill>
          <a:ln xmlns:a="http://schemas.openxmlformats.org/drawingml/2006/main" w="19050">
            <a:solidFill>
              <a:srgbClr val="0F9D8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1  LOAD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xₖ + constants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C5113-6B10-4FD5-B63C-8B227A52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85900"/>
            <a:ext cx="21336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673D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2  EVALUATE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f • gradient g • Hessian 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46B60D-91A7-46BF-BEB7-175EFF17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485900"/>
            <a:ext cx="19240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3  STOP?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small gradient / limit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48A18-F86C-45DD-995F-C31846E8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485900"/>
            <a:ext cx="1905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19050">
            <a:solidFill>
              <a:srgbClr val="7A4DE8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4  SOLVE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(H + λI)p = −g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14316D-2B0B-4B40-9542-FD809EE8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485900"/>
            <a:ext cx="20383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DEAF2"/>
          </a:solidFill>
          <a:ln xmlns:a="http://schemas.openxmlformats.org/drawingml/2006/main" w="19050">
            <a:solidFill>
              <a:srgbClr val="E84A8A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5  LINE SEARCH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select α</a:t>
            </a:r>
          </a:p>
        </p:txBody>
      </p: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266950" y="18764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673DD"/>
            </a:solidFill>
            <a:prstDash val="solid"/>
            <a:tailEnd type="triangle" w="med" len="med"/>
          </a:ln>
        </p:spPr>
      </p:cxnSp>
      <p:cxnSp>
        <p:nvCxnSpPr>
          <p:cNvPr id="41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743450" y="18764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673DD"/>
            </a:solidFill>
            <a:prstDash val="solid"/>
            <a:tailEnd type="triangle" w="med" len="med"/>
          </a:ln>
        </p:spPr>
      </p:cxnSp>
      <p:cxnSp>
        <p:nvCxnSpPr>
          <p:cNvPr id="42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010400" y="18764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59E0B"/>
            </a:solidFill>
            <a:prstDash val="solid"/>
            <a:tailEnd type="triangle" w="med" len="med"/>
          </a:ln>
        </p:spPr>
      </p:cxnSp>
      <p:cxnSp>
        <p:nvCxnSpPr>
          <p:cNvPr id="43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258300" y="18764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673DD"/>
            </a:solidFill>
            <a:prstDash val="solid"/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E37171-03B8-4684-BCD6-948B7825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57550"/>
            <a:ext cx="26098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E"/>
          </a:solidFill>
          <a:ln xmlns:a="http://schemas.openxmlformats.org/drawingml/2006/main" w="19050">
            <a:solidFill>
              <a:srgbClr val="3BA55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6  UPDATE + STORE TRIAL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xₖ₊₁ = xₖ + αp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C47052-0B05-4D7F-9DAC-945AD7D3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895850"/>
            <a:ext cx="26479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EAF8EE"/>
          </a:solidFill>
          <a:ln xmlns:a="http://schemas.openxmlformats.org/drawingml/2006/main" w="19050">
            <a:solidFill>
              <a:srgbClr val="3BA55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CONVERGED RESULT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x* + status + interrupt</a:t>
            </a:r>
          </a:p>
        </p:txBody>
      </p:sp>
      <p:cxnSp>
        <p:nvCxnSpPr>
          <p:cNvPr id="46" name=""/>
          <p:cNvCxnSpPr>
            <a:stCxn xmlns:a="http://schemas.openxmlformats.org/drawingml/2006/main" id="12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8620125" y="2266950"/>
            <a:ext cx="2000250" cy="990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2673DD"/>
            </a:solidFill>
            <a:prstDash val="solid"/>
            <a:tailEnd type="triangle" w="med" len="med"/>
          </a:ln>
        </p:spPr>
      </p:cxnSp>
      <p:cxnSp>
        <p:nvCxnSpPr>
          <p:cNvPr id="47" name=""/>
          <p:cNvCxnSpPr>
            <a:stCxn xmlns:a="http://schemas.openxmlformats.org/drawingml/2006/main" id="10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6048375" y="2266950"/>
            <a:ext cx="0" cy="26289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BA55D"/>
            </a:solidFill>
            <a:prstDash val="solid"/>
            <a:tailEnd type="triangle" w="med" len="med"/>
          </a:ln>
        </p:spPr>
      </p:cxnSp>
      <p:cxnSp>
        <p:nvCxnSpPr>
          <p:cNvPr id="48" name=""/>
          <p:cNvCxnSpPr>
            <a:stCxn xmlns:a="http://schemas.openxmlformats.org/drawingml/2006/main" id="17" idx="1"/>
            <a:endCxn xmlns:a="http://schemas.openxmlformats.org/drawingml/2006/main" id="9" idx="2"/>
          </p:cNvCxnSpPr>
          <p:nvPr/>
        </p:nvCxnSpPr>
        <p:spPr>
          <a:xfrm xmlns:a="http://schemas.openxmlformats.org/drawingml/2006/main" flipH="1" flipV="1">
            <a:off x="3676650" y="2266950"/>
            <a:ext cx="3638550" cy="1428750"/>
          </a:xfrm>
          <a:prstGeom xmlns:a="http://schemas.openxmlformats.org/drawingml/2006/main" prst="bentConnector4">
            <a:avLst>
              <a:gd name="adj1" fmla="val 6283"/>
              <a:gd name="adj2" fmla="val 84000"/>
            </a:avLst>
          </a:prstGeom>
          <a:ln xmlns:a="http://schemas.openxmlformats.org/drawingml/2006/main" w="28575">
            <a:solidFill>
              <a:srgbClr val="2673DD"/>
            </a:solidFill>
            <a:prstDash val="solid"/>
            <a:tailEnd type="triangl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3651E1-8A01-4414-873D-0DB257C8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143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9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2CD1D4-4CDA-4B74-9CEA-09AC3A92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958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975" b="1">
                <a:solidFill>
                  <a:srgbClr val="3BA55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BA55D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6F187A-8D7F-4CF1-BFF2-8557CB6E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49530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D7E1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684E78-3B5E-4142-8253-CC810BE3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7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What stays entirely in hardware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A86E12-426C-431F-947E-B26669C0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4438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75" b="0">
                <a:solidFill>
                  <a:srgbClr val="5C6F8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F82"/>
                </a:solidFill>
                <a:latin typeface="Aptos"/>
                <a:ea typeface="Aptos"/>
                <a:cs typeface="Aptos"/>
              </a:rPr>
              <a:t>iteration counter • regularization λ • factorization • direction solve • line-search trials • convergence checks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406DA3-D511-440E-88BF-8546A3D6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720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275" b="1">
                <a:solidFill>
                  <a:srgbClr val="7A4D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A4DE8"/>
                </a:solidFill>
                <a:latin typeface="Aptos"/>
                <a:ea typeface="Aptos"/>
                <a:cs typeface="Aptos"/>
              </a:rPr>
              <a:t>Never calculate H⁻¹ explicitly—factor and solve the linear system.</a:t>
            </a:r>
          </a:p>
        </p:txBody>
      </p:sp>
    </p:spTree>
    <p:extLst>
      <p:ext uri="{BB962C8B-B14F-4D97-AF65-F5344CB8AC3E}">
        <p14:creationId xmlns:p14="http://schemas.microsoft.com/office/powerpoint/2010/main" val="17913056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48A9798-0BE6-437D-B73B-9B106AB1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058009-3F84-4F75-BD5C-8D6222A7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985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6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Two hardware lanes can process any N one pair at a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F4DC0-A003-4929-9686-F2039031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24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975" b="1">
                <a:solidFill>
                  <a:srgbClr val="2673D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673DD"/>
                </a:solidFill>
                <a:latin typeface="Aptos"/>
                <a:ea typeface="Aptos"/>
                <a:cs typeface="Aptos"/>
              </a:rPr>
              <a:t>N-VARIABLE MAPPING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635A3-19D4-415E-AFBD-58AFD9E8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F4652-DBD4-4FDD-9AC9-E26C3383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000F1C-5362-46B9-BB12-7A27E074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695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82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JU RESEARCH • 32-BIT RISC-V • HARDWARE AI MATH 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B9A9B1-4D8D-4436-BEE4-6BB37256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543675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82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07 / 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1C2462-E067-4DEB-B1AC-80ECE2FB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Example: N = 10 variables, LANES =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341802-9D1B-49A3-B85E-EBAF3E98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123950"/>
            <a:ext cx="470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1350" b="1">
                <a:solidFill>
                  <a:srgbClr val="E0545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05454"/>
                </a:solidFill>
                <a:latin typeface="Aptos"/>
                <a:ea typeface="Aptos"/>
                <a:cs typeface="Aptos"/>
              </a:rPr>
              <a:t>All values belong to one coupled Newton problem.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E9210-11CA-4956-B9F1-4E08ECF2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8763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673D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x0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C82573-630D-46DF-A328-DA8BB2EE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714500"/>
            <a:ext cx="8763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19050">
            <a:solidFill>
              <a:srgbClr val="7A4DE8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x1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06D942-A7A7-4A9E-BA36-D0098A7E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14500"/>
            <a:ext cx="8763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673D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x2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4A8D9E-5FEF-4339-8E64-F27430BD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714500"/>
            <a:ext cx="8763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19050">
            <a:solidFill>
              <a:srgbClr val="7A4DE8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x3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4105DB-632F-40B5-B2F6-1C4B83A0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14500"/>
            <a:ext cx="8763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673D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x4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147375-110D-4CAA-A444-B481DB8F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14500"/>
            <a:ext cx="8763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19050">
            <a:solidFill>
              <a:srgbClr val="7A4DE8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x5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F8F4A1-8D23-4577-8D8F-52201055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714500"/>
            <a:ext cx="8763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673D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x6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6981D6-F1C4-4FA0-8D27-AE8F030E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14500"/>
            <a:ext cx="8763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19050">
            <a:solidFill>
              <a:srgbClr val="7A4DE8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x7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697ABD-33CE-4398-87D6-E3ABBE69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14500"/>
            <a:ext cx="8763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673D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x8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C97992-B063-4727-94BF-CB13D03C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14500"/>
            <a:ext cx="8763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19050">
            <a:solidFill>
              <a:srgbClr val="7A4DE8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x9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E57785-733E-47F5-84D2-EFA81FB5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24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00" b="1">
                <a:solidFill>
                  <a:srgbClr val="0F9D8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9D8D"/>
                </a:solidFill>
                <a:latin typeface="Aptos"/>
                <a:ea typeface="Aptos"/>
                <a:cs typeface="Aptos"/>
              </a:rPr>
              <a:t>full x(k) stored in local SRAM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620A2F-E1D7-4B99-A76A-B0D75184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14650"/>
            <a:ext cx="106680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19050">
            <a:solidFill>
              <a:srgbClr val="D7E1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CYCLE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E7823F-52DD-4914-89ED-C861515D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914650"/>
            <a:ext cx="140970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673D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LANE 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572E6C-7648-411E-88E6-C5A2F92E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14650"/>
            <a:ext cx="140970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19050">
            <a:solidFill>
              <a:srgbClr val="7A4DE8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LANE 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78A3B1-4891-4E18-8EF3-13DA0E0F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106680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1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C0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06722A-475C-4026-9A21-180DF5E5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90900"/>
            <a:ext cx="140970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673D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x0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751A87-F6F9-4415-9A88-4F4955DF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90900"/>
            <a:ext cx="140970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19050">
            <a:solidFill>
              <a:srgbClr val="7A4DE8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x1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D925C9-7D40-42E0-B2F3-5AE20232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48100"/>
            <a:ext cx="106680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1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C1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5F21DA-3011-4625-88FE-38CBE533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48100"/>
            <a:ext cx="140970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673D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x2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7B59D4-5EC5-43A2-86B0-68DB917E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48100"/>
            <a:ext cx="140970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19050">
            <a:solidFill>
              <a:srgbClr val="7A4DE8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x3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3B5807-401E-4EF1-8687-8C785410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106680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1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C2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AD0D51-0FCC-4954-91BA-38531CC2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05300"/>
            <a:ext cx="140970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673D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x4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4BC599-9FAE-4A93-9A2A-CA35E99F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05300"/>
            <a:ext cx="140970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19050">
            <a:solidFill>
              <a:srgbClr val="7A4DE8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x5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D13E39-E2A5-4636-8138-B3205F67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106680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1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C3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8EF5A5-AB30-4AFE-AB5A-BD4C5358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62500"/>
            <a:ext cx="140970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673D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x6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B6F2E7-6CEA-4A71-B190-82FEC80A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140970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19050">
            <a:solidFill>
              <a:srgbClr val="7A4DE8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x7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3131C4-4733-46A3-B287-96CF3403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6680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1EC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C4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91DA79-0DC5-4460-A837-541AFE40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219700"/>
            <a:ext cx="140970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673D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x8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ACB12C-9B31-4D82-A571-A43F8EFE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19700"/>
            <a:ext cx="140970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19050">
            <a:solidFill>
              <a:srgbClr val="7A4DE8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x9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F6EABE-2178-4B43-B491-391D4C08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95600"/>
            <a:ext cx="22479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4F8F4"/>
          </a:solidFill>
          <a:ln xmlns:a="http://schemas.openxmlformats.org/drawingml/2006/main" w="19050">
            <a:solidFill>
              <a:srgbClr val="0F9D8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A  Freeze x(k)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AFA8E0-5B31-415D-A31E-1F0B3B84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00350"/>
            <a:ext cx="24765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673D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B  Sweep all vector +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Hessian elements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4DEA12-46CA-4EC5-AE87-3416672F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22479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19050">
            <a:solidFill>
              <a:srgbClr val="7A4DE8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C  Factor and solve the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full 10 × 10 system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14C879-24D7-4772-A9D7-95BF483D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24765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8EE"/>
          </a:solidFill>
          <a:ln xmlns:a="http://schemas.openxmlformats.org/drawingml/2006/main" w="19050">
            <a:solidFill>
              <a:srgbClr val="3BA55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D  Write all x(k+1),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then swap banks</a:t>
            </a:r>
          </a:p>
        </p:txBody>
      </p:sp>
      <p:cxnSp>
        <p:nvCxnSpPr>
          <p:cNvPr id="90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8058150" y="3171825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673DD"/>
            </a:solidFill>
            <a:prstDash val="solid"/>
            <a:tailEnd type="triangle" w="med" len="med"/>
          </a:ln>
        </p:spPr>
      </p:cxnSp>
      <p:cxnSp>
        <p:nvCxnSpPr>
          <p:cNvPr id="91" name=""/>
          <p:cNvCxnSpPr>
            <a:stCxn xmlns:a="http://schemas.openxmlformats.org/drawingml/2006/main" id="40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 flipH="1">
            <a:off x="6934200" y="3543300"/>
            <a:ext cx="3162300" cy="552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2673DD"/>
            </a:solidFill>
            <a:prstDash val="solid"/>
            <a:tailEnd type="triangle" w="med" len="med"/>
          </a:ln>
        </p:spPr>
      </p:cxnSp>
      <p:cxnSp>
        <p:nvCxnSpPr>
          <p:cNvPr id="92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8058150" y="4476750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673DD"/>
            </a:solidFill>
            <a:prstDash val="solid"/>
            <a:tailEnd type="triangle" w="med" len="me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E2C3E6C-515D-4BCC-A08F-3A9E5B2C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57800"/>
            <a:ext cx="55245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9050">
            <a:solidFill>
              <a:srgbClr val="E0545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0CDB300-454D-4DEC-A449-A8D87260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353050"/>
            <a:ext cx="518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1275" b="1">
                <a:solidFill>
                  <a:srgbClr val="E0545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05454"/>
                </a:solidFill>
                <a:latin typeface="Aptos"/>
                <a:ea typeface="Aptos"/>
                <a:cs typeface="Aptos"/>
              </a:rPr>
              <a:t>Do not solve five independent 2-variable problems unless H is block diagonal. Cross-terms couple x₀…x₉.</a:t>
            </a:r>
          </a:p>
        </p:txBody>
      </p:sp>
    </p:spTree>
    <p:extLst>
      <p:ext uri="{BB962C8B-B14F-4D97-AF65-F5344CB8AC3E}">
        <p14:creationId xmlns:p14="http://schemas.microsoft.com/office/powerpoint/2010/main" val="20872136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38B586-F509-4ABE-8AFC-5BB295B7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E2AF4F-E19D-409E-9869-7354469C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985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6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Software remains—but the calculation stays in hardware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B19FE-DD99-4DA2-80A8-8B913066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24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975" b="1">
                <a:solidFill>
                  <a:srgbClr val="2673D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673DD"/>
                </a:solidFill>
                <a:latin typeface="Aptos"/>
                <a:ea typeface="Aptos"/>
                <a:cs typeface="Aptos"/>
              </a:rPr>
              <a:t>BUILD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FD4B8-1877-4E11-A9E8-010FEB28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CF2DB-0510-4554-B5AB-A0D91531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E9A2DC-AB91-40A1-9A49-8E763F80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695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82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JU RESEARCH • 32-BIT RISC-V • HARDWARE AI MATH 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79B3F2-546B-4803-8343-5F1AFB02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543675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8000"/>
              </a:lnSpc>
              <a:buNone/>
              <a:defRPr sz="82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08 / 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C5300-D35F-4CD0-81E9-45B26989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SOFTWARE / RV32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255A4C-AD39-43B4-9AD9-043C8A97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2906E1-0A8A-416D-A479-C8B18359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4762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75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• Compile equation into supported DFG / micro-ops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275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• Allocate buffers and write one job descriptor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275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• Configure solver, N, tolerances and limits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275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• Start the engine and handle result or fault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1E4B26-4089-4E08-B8FE-D24E1052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2001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650" b="1">
                <a:solidFill>
                  <a:srgbClr val="2673D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673DD"/>
                </a:solidFill>
                <a:latin typeface="Aptos"/>
                <a:ea typeface="Aptos"/>
                <a:cs typeface="Aptos"/>
              </a:rPr>
              <a:t>AI ENGINE HARDWARE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BB20DD-D4AA-4E30-A12A-9EC52982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562100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3FFD89-81A0-486A-B24D-B7F9B72E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752600"/>
            <a:ext cx="4667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75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• Evaluate equation, gradient and Hessian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275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• Run factorization, solve, line search and update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275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• Repeat until convergence or bounded termination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1275" b="0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33F"/>
                </a:solidFill>
                <a:latin typeface="Aptos"/>
                <a:ea typeface="Aptos"/>
                <a:cs typeface="Aptos"/>
              </a:rPr>
              <a:t>• Store x*, metrics and a clear reason 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C025C0-9395-4CBB-9BC2-DBDBB3A4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Recommended implementation order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73D290-8511-4459-BFE2-C89724A8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16764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C4F9D0-E415-4A0A-9D07-24B76A07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14800"/>
            <a:ext cx="342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CD6FB5-6E41-42EB-B979-A8D1462E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76700"/>
            <a:ext cx="1028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Golden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008AAC-CC32-4B2C-AE66-4ACCCB89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000500"/>
            <a:ext cx="16764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73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BB4E96-2CA8-45DF-ACBB-055A5D07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14800"/>
            <a:ext cx="342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73DD"/>
          </a:solidFill>
          <a:ln xmlns:a="http://schemas.openxmlformats.org/drawingml/2006/main" w="19050">
            <a:solidFill>
              <a:srgbClr val="2673D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DD5E5D-1B9F-49B0-AEC9-62D029B3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76700"/>
            <a:ext cx="1028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00" b="1">
                <a:solidFill>
                  <a:srgbClr val="2673D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673DD"/>
                </a:solidFill>
                <a:latin typeface="Aptos"/>
                <a:ea typeface="Aptos"/>
                <a:cs typeface="Aptos"/>
              </a:rPr>
              <a:t>2-variable RTL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1DEA8C-B7EB-4757-B348-9E99EA44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00500"/>
            <a:ext cx="16764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A4D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B61AAC-00FD-4283-A435-8CC07DF1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14800"/>
            <a:ext cx="342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4DE8"/>
          </a:solidFill>
          <a:ln xmlns:a="http://schemas.openxmlformats.org/drawingml/2006/main" w="19050">
            <a:solidFill>
              <a:srgbClr val="7A4DE8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6CFB74-6A92-4979-9106-13C94A20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76700"/>
            <a:ext cx="1028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00" b="1">
                <a:solidFill>
                  <a:srgbClr val="7A4D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4DE8"/>
                </a:solidFill>
                <a:latin typeface="Aptos"/>
                <a:ea typeface="Aptos"/>
                <a:cs typeface="Aptos"/>
              </a:rPr>
              <a:t>2-lane N-variable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14E1B3-8CEE-42A3-B0B6-4DAC0646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16764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9D8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FEEE29-DB03-43A9-A407-F6702D08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14800"/>
            <a:ext cx="342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9D8D"/>
          </a:solidFill>
          <a:ln xmlns:a="http://schemas.openxmlformats.org/drawingml/2006/main" w="19050">
            <a:solidFill>
              <a:srgbClr val="0F9D8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96B482-204B-4934-A8C4-9F0B9BCE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76700"/>
            <a:ext cx="1028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00" b="1">
                <a:solidFill>
                  <a:srgbClr val="0F9D8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9D8D"/>
                </a:solidFill>
                <a:latin typeface="Aptos"/>
                <a:ea typeface="Aptos"/>
                <a:cs typeface="Aptos"/>
              </a:rPr>
              <a:t>AXI + RV32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3AE7C1-A19F-404B-AF29-385DA92C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00500"/>
            <a:ext cx="16764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A55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4B7882-F331-423C-9D0F-C74F7D7D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14800"/>
            <a:ext cx="342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A55D"/>
          </a:solidFill>
          <a:ln xmlns:a="http://schemas.openxmlformats.org/drawingml/2006/main" w="19050">
            <a:solidFill>
              <a:srgbClr val="3BA55D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8AA436-6656-4825-91F5-04D5032B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76700"/>
            <a:ext cx="1028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00" b="1">
                <a:solidFill>
                  <a:srgbClr val="3BA55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BA55D"/>
                </a:solidFill>
                <a:latin typeface="Aptos"/>
                <a:ea typeface="Aptos"/>
                <a:cs typeface="Aptos"/>
              </a:rPr>
              <a:t>NN integration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350738-9465-4452-8748-FE635261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000500"/>
            <a:ext cx="16764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4A8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05AB2A-C7DB-4111-8E39-5712973A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114800"/>
            <a:ext cx="342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4A8A"/>
          </a:solidFill>
          <a:ln xmlns:a="http://schemas.openxmlformats.org/drawingml/2006/main" w="19050">
            <a:solidFill>
              <a:srgbClr val="E84A8A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FCBA8E-28DA-4C99-8A57-7F662A08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076700"/>
            <a:ext cx="1028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200" b="1">
                <a:solidFill>
                  <a:srgbClr val="E84A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4A8A"/>
                </a:solidFill>
                <a:latin typeface="Aptos"/>
                <a:ea typeface="Aptos"/>
                <a:cs typeface="Aptos"/>
              </a:rPr>
              <a:t>More solvers</a:t>
            </a:r>
          </a:p>
        </p:txBody>
      </p:sp>
      <p:cxnSp>
        <p:nvCxnSpPr>
          <p:cNvPr id="73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2190750" y="44386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673DD"/>
            </a:solidFill>
            <a:prstDash val="solid"/>
            <a:tailEnd type="triangle" w="med" len="med"/>
          </a:ln>
        </p:spPr>
      </p:cxnSp>
      <p:cxnSp>
        <p:nvCxnSpPr>
          <p:cNvPr id="74" name=""/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4114800" y="44386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A4DE8"/>
            </a:solidFill>
            <a:prstDash val="solid"/>
            <a:tailEnd type="triangle" w="med" len="med"/>
          </a:ln>
        </p:spPr>
      </p:cxnSp>
      <p:cxnSp>
        <p:nvCxnSpPr>
          <p:cNvPr id="75" name=""/>
          <p:cNvCxnSpPr>
            <a:stCxn xmlns:a="http://schemas.openxmlformats.org/drawingml/2006/main" id="2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6038850" y="44386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F9D8D"/>
            </a:solidFill>
            <a:prstDash val="solid"/>
            <a:tailEnd type="triangle" w="med" len="med"/>
          </a:ln>
        </p:spPr>
      </p:cxnSp>
      <p:cxnSp>
        <p:nvCxnSpPr>
          <p:cNvPr id="76" name=""/>
          <p:cNvCxnSpPr>
            <a:stCxn xmlns:a="http://schemas.openxmlformats.org/drawingml/2006/main" id="24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7962900" y="44386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BA55D"/>
            </a:solidFill>
            <a:prstDash val="solid"/>
            <a:tailEnd type="triangle" w="med" len="med"/>
          </a:ln>
        </p:spPr>
      </p:cxnSp>
      <p:cxnSp>
        <p:nvCxnSpPr>
          <p:cNvPr id="77" name=""/>
          <p:cNvCxnSpPr>
            <a:stCxn xmlns:a="http://schemas.openxmlformats.org/drawingml/2006/main" id="27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9886950" y="44386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E84A8A"/>
            </a:solidFill>
            <a:prstDash val="solid"/>
            <a:tailEnd type="triangle" w="med" len="me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B63E6A-6045-499D-A4C8-DBAC17AB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91150"/>
            <a:ext cx="110109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673D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DBFB67-E2AE-42F7-BD80-5D483957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500" b="1">
                <a:solidFill>
                  <a:srgbClr val="2673D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673DD"/>
                </a:solidFill>
                <a:latin typeface="Aptos"/>
                <a:ea typeface="Aptos"/>
                <a:cs typeface="Aptos"/>
              </a:rPr>
              <a:t>Final result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706889-BBAD-46D0-93A0-A22CBEA4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6735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10233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33F"/>
                </a:solidFill>
                <a:latin typeface="Aptos"/>
                <a:ea typeface="Aptos"/>
                <a:cs typeface="Aptos"/>
              </a:rPr>
              <a:t>A reusable hardware AI Engine IP: Newton is the first complete solver; future solvers reuse the dispatcher, memories, interfaces and arithmetic fabric.</a:t>
            </a:r>
          </a:p>
        </p:txBody>
      </p:sp>
    </p:spTree>
    <p:extLst>
      <p:ext uri="{BB962C8B-B14F-4D97-AF65-F5344CB8AC3E}">
        <p14:creationId xmlns:p14="http://schemas.microsoft.com/office/powerpoint/2010/main" val="12995094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2026-08-22T08:08:42.8000000Z</dcterms:created>
  <dcterms:modified xsi:type="dcterms:W3CDTF">2026-08-22T08:08:42.8000000Z</dcterms:modified>
</coreProperties>
</file>