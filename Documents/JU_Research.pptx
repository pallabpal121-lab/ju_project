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6E866-33D6-4E83-A696-EBCBD2FECD4D}" v="4" dt="2026-07-27T08:40:09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al, Dibyendu" userId="2ad169d8-50d6-48b3-9a50-4f3d60d1a420" providerId="ADAL" clId="{624BB757-2F66-4BA5-AF37-8CC7F297E96A}"/>
    <pc:docChg chg="custSel addSld modSld">
      <pc:chgData name="Kayal, Dibyendu" userId="2ad169d8-50d6-48b3-9a50-4f3d60d1a420" providerId="ADAL" clId="{624BB757-2F66-4BA5-AF37-8CC7F297E96A}" dt="2026-07-27T08:40:09.480" v="1372"/>
      <pc:docMkLst>
        <pc:docMk/>
      </pc:docMkLst>
      <pc:sldChg chg="modSp mod">
        <pc:chgData name="Kayal, Dibyendu" userId="2ad169d8-50d6-48b3-9a50-4f3d60d1a420" providerId="ADAL" clId="{624BB757-2F66-4BA5-AF37-8CC7F297E96A}" dt="2026-07-25T05:46:19.026" v="17" actId="1036"/>
        <pc:sldMkLst>
          <pc:docMk/>
          <pc:sldMk cId="950340263" sldId="257"/>
        </pc:sldMkLst>
        <pc:spChg chg="mod">
          <ac:chgData name="Kayal, Dibyendu" userId="2ad169d8-50d6-48b3-9a50-4f3d60d1a420" providerId="ADAL" clId="{624BB757-2F66-4BA5-AF37-8CC7F297E96A}" dt="2026-07-25T05:46:19.026" v="17" actId="1036"/>
          <ac:spMkLst>
            <pc:docMk/>
            <pc:sldMk cId="950340263" sldId="257"/>
            <ac:spMk id="3" creationId="{F5CC4D0E-C535-0E34-6703-4893D773D832}"/>
          </ac:spMkLst>
        </pc:spChg>
      </pc:sldChg>
      <pc:sldChg chg="modSp mod">
        <pc:chgData name="Kayal, Dibyendu" userId="2ad169d8-50d6-48b3-9a50-4f3d60d1a420" providerId="ADAL" clId="{624BB757-2F66-4BA5-AF37-8CC7F297E96A}" dt="2026-07-27T07:49:29.304" v="19" actId="1076"/>
        <pc:sldMkLst>
          <pc:docMk/>
          <pc:sldMk cId="2539201526" sldId="258"/>
        </pc:sldMkLst>
        <pc:spChg chg="mod">
          <ac:chgData name="Kayal, Dibyendu" userId="2ad169d8-50d6-48b3-9a50-4f3d60d1a420" providerId="ADAL" clId="{624BB757-2F66-4BA5-AF37-8CC7F297E96A}" dt="2026-07-19T15:01:06.737" v="16" actId="33524"/>
          <ac:spMkLst>
            <pc:docMk/>
            <pc:sldMk cId="2539201526" sldId="258"/>
            <ac:spMk id="12" creationId="{E97FB98A-4C13-DD08-44AE-CCEB370C66E9}"/>
          </ac:spMkLst>
        </pc:spChg>
        <pc:picChg chg="mod">
          <ac:chgData name="Kayal, Dibyendu" userId="2ad169d8-50d6-48b3-9a50-4f3d60d1a420" providerId="ADAL" clId="{624BB757-2F66-4BA5-AF37-8CC7F297E96A}" dt="2026-07-27T07:49:29.304" v="19" actId="1076"/>
          <ac:picMkLst>
            <pc:docMk/>
            <pc:sldMk cId="2539201526" sldId="258"/>
            <ac:picMk id="11" creationId="{7B61ACD7-2AC5-7700-1111-7E95107D31F9}"/>
          </ac:picMkLst>
        </pc:picChg>
      </pc:sldChg>
      <pc:sldChg chg="addSp modSp new mod">
        <pc:chgData name="Kayal, Dibyendu" userId="2ad169d8-50d6-48b3-9a50-4f3d60d1a420" providerId="ADAL" clId="{624BB757-2F66-4BA5-AF37-8CC7F297E96A}" dt="2026-07-27T08:34:52.289" v="1361" actId="5793"/>
        <pc:sldMkLst>
          <pc:docMk/>
          <pc:sldMk cId="2460612241" sldId="261"/>
        </pc:sldMkLst>
        <pc:spChg chg="mod">
          <ac:chgData name="Kayal, Dibyendu" userId="2ad169d8-50d6-48b3-9a50-4f3d60d1a420" providerId="ADAL" clId="{624BB757-2F66-4BA5-AF37-8CC7F297E96A}" dt="2026-07-27T07:50:23.860" v="30" actId="14100"/>
          <ac:spMkLst>
            <pc:docMk/>
            <pc:sldMk cId="2460612241" sldId="261"/>
            <ac:spMk id="2" creationId="{EA880C98-E9C6-D4C3-34E9-C8C6A7EA3030}"/>
          </ac:spMkLst>
        </pc:spChg>
        <pc:spChg chg="mod">
          <ac:chgData name="Kayal, Dibyendu" userId="2ad169d8-50d6-48b3-9a50-4f3d60d1a420" providerId="ADAL" clId="{624BB757-2F66-4BA5-AF37-8CC7F297E96A}" dt="2026-07-27T08:34:52.289" v="1361" actId="5793"/>
          <ac:spMkLst>
            <pc:docMk/>
            <pc:sldMk cId="2460612241" sldId="261"/>
            <ac:spMk id="3" creationId="{5D4CA084-1591-58EC-A7D6-C0C64AFF4A23}"/>
          </ac:spMkLst>
        </pc:spChg>
        <pc:graphicFrameChg chg="add mod modGraphic">
          <ac:chgData name="Kayal, Dibyendu" userId="2ad169d8-50d6-48b3-9a50-4f3d60d1a420" providerId="ADAL" clId="{624BB757-2F66-4BA5-AF37-8CC7F297E96A}" dt="2026-07-27T08:18:34.816" v="1047" actId="1076"/>
          <ac:graphicFrameMkLst>
            <pc:docMk/>
            <pc:sldMk cId="2460612241" sldId="261"/>
            <ac:graphicFrameMk id="4" creationId="{84BBE5ED-2A29-81EA-F42D-D041A8297E1A}"/>
          </ac:graphicFrameMkLst>
        </pc:graphicFrameChg>
      </pc:sldChg>
      <pc:sldChg chg="addSp delSp modSp new mod">
        <pc:chgData name="Kayal, Dibyendu" userId="2ad169d8-50d6-48b3-9a50-4f3d60d1a420" providerId="ADAL" clId="{624BB757-2F66-4BA5-AF37-8CC7F297E96A}" dt="2026-07-27T08:40:09.480" v="1372"/>
        <pc:sldMkLst>
          <pc:docMk/>
          <pc:sldMk cId="166886768" sldId="262"/>
        </pc:sldMkLst>
        <pc:spChg chg="mod">
          <ac:chgData name="Kayal, Dibyendu" userId="2ad169d8-50d6-48b3-9a50-4f3d60d1a420" providerId="ADAL" clId="{624BB757-2F66-4BA5-AF37-8CC7F297E96A}" dt="2026-07-27T08:40:09.480" v="1372"/>
          <ac:spMkLst>
            <pc:docMk/>
            <pc:sldMk cId="166886768" sldId="262"/>
            <ac:spMk id="2" creationId="{CA0CD042-31EE-9295-BB5A-3EAD1E1D1F9F}"/>
          </ac:spMkLst>
        </pc:spChg>
        <pc:spChg chg="del">
          <ac:chgData name="Kayal, Dibyendu" userId="2ad169d8-50d6-48b3-9a50-4f3d60d1a420" providerId="ADAL" clId="{624BB757-2F66-4BA5-AF37-8CC7F297E96A}" dt="2026-07-27T08:39:31.094" v="1363" actId="478"/>
          <ac:spMkLst>
            <pc:docMk/>
            <pc:sldMk cId="166886768" sldId="262"/>
            <ac:spMk id="3" creationId="{7EBAF740-9A2A-FC1D-446E-136D9ABDBF88}"/>
          </ac:spMkLst>
        </pc:spChg>
        <pc:picChg chg="add mod">
          <ac:chgData name="Kayal, Dibyendu" userId="2ad169d8-50d6-48b3-9a50-4f3d60d1a420" providerId="ADAL" clId="{624BB757-2F66-4BA5-AF37-8CC7F297E96A}" dt="2026-07-27T08:39:58.162" v="1371" actId="14100"/>
          <ac:picMkLst>
            <pc:docMk/>
            <pc:sldMk cId="166886768" sldId="262"/>
            <ac:picMk id="5" creationId="{5B30F1DF-6197-F28E-324C-24EA39ABCE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C5C9-164C-46B3-A87E-7660D39D3106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8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FF8A-AAF8-4A12-8A91-9CA0EAF6CBB9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1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25C3-021A-4B0B-8F70-0C181FE1CF45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8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D88D-8CEC-4ED9-A53B-5596187D9A16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1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D382-DFDA-4722-A27A-59C21AD112F2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7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2A30D-1C09-413F-AAB1-38F366000715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82B9C-D65E-4F64-95C3-B10F3B00F0D9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6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FDCC-6AAC-4A08-B9E0-3793AB5E64C3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5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E94D-439C-40F1-900E-BC07940E3988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1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54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144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65176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588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051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24010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179A-1E2B-41AB-B400-4F1B4022FAEE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16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1D0F-6595-4F14-8EF3-954CD87C797B}" type="datetime2">
              <a:rPr lang="en-US" smtClean="0"/>
              <a:t>Thursday, July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A2CF1-0EB2-4673-802D-3371233E4A77}" type="datetime2">
              <a:rPr lang="en-US" smtClean="0"/>
              <a:t>Thursday, July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7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second-order-optimization-methods/#example-1-newtons-method" TargetMode="External"/><Relationship Id="rId2" Type="http://schemas.openxmlformats.org/officeDocument/2006/relationships/hyperlink" Target="https://www.geeksforgeeks.org/artificial-intelligence/ai-algorithm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machine-learning/newtons-method-in-machine-learning/#newtons-method-for-optimization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93D0AC-A4B8-B877-C9E6-62AD514DA1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747" b="-2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6A7F27-5B86-4914-90A3-E04479F8E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4000"/>
                </a:schemeClr>
              </a:gs>
              <a:gs pos="100000">
                <a:schemeClr val="bg2">
                  <a:lumMod val="40000"/>
                  <a:alpha val="66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32A30EC-2C72-4D1B-9B53-76A0601A1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9272" y="1828800"/>
            <a:ext cx="8833456" cy="320040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627A6-8963-E7C2-15E2-C1FC57AD2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914" y="2054268"/>
            <a:ext cx="8694814" cy="1728592"/>
          </a:xfrm>
        </p:spPr>
        <p:txBody>
          <a:bodyPr>
            <a:noAutofit/>
          </a:bodyPr>
          <a:lstStyle/>
          <a:p>
            <a:r>
              <a:rPr lang="en-US" sz="4000" dirty="0"/>
              <a:t>Hardware implementation of AI algorithms for high-speed AI platforms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F8663-3081-FFCC-07A1-879247A8B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1533" y="3883068"/>
            <a:ext cx="8354863" cy="96515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00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38C0-1E0D-A0CC-B29E-DC980D69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544286"/>
          </a:xfrm>
        </p:spPr>
        <p:txBody>
          <a:bodyPr>
            <a:normAutofit fontScale="90000"/>
          </a:bodyPr>
          <a:lstStyle/>
          <a:p>
            <a:r>
              <a:rPr lang="en-US" dirty="0"/>
              <a:t>Synopsys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4D0E-C535-0E34-6703-4893D773D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63031"/>
            <a:ext cx="10353762" cy="50945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Moving AI based process execution from generic hardware system to application specific dedicated hardware systems for high-speed low power more energy efficient architecture.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Dedicated memory architecture for each AI algorithm-based ALU platforms for better performance. (Distributed and dedicated memory)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Application of </a:t>
            </a:r>
            <a:r>
              <a:rPr lang="en-IN" dirty="0"/>
              <a:t>In-memory computing (IMC) for optimization (According to need)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Optimize and design On-chip NPUs (</a:t>
            </a:r>
            <a:r>
              <a:rPr lang="en-IN" b="1" dirty="0">
                <a:effectLst/>
              </a:rPr>
              <a:t>Neural Processing Unit</a:t>
            </a:r>
            <a:r>
              <a:rPr lang="en-IN" b="1" dirty="0">
                <a:effectLst/>
                <a:sym typeface="Wingdings" panose="05000000000000000000" pitchFamily="2" charset="2"/>
              </a:rPr>
              <a:t></a:t>
            </a:r>
            <a:r>
              <a:rPr lang="en-IN" b="1" dirty="0">
                <a:effectLst/>
              </a:rPr>
              <a:t> Currently slow and power hungry</a:t>
            </a:r>
            <a:r>
              <a:rPr lang="en-IN" dirty="0">
                <a:effectLst/>
              </a:rPr>
              <a:t>) to run low-power, localized inferencing directly on personal devices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Design and optimize Large and complex ALU applications on hardware</a:t>
            </a:r>
            <a:r>
              <a:rPr lang="en-IN" dirty="0">
                <a:effectLst/>
                <a:sym typeface="Wingdings" panose="05000000000000000000" pitchFamily="2" charset="2"/>
              </a:rPr>
              <a:t></a:t>
            </a:r>
            <a:br>
              <a:rPr lang="en-IN" dirty="0">
                <a:effectLst/>
                <a:sym typeface="Wingdings" panose="05000000000000000000" pitchFamily="2" charset="2"/>
              </a:rPr>
            </a:br>
            <a:r>
              <a:rPr lang="en-IN" dirty="0">
                <a:effectLst/>
              </a:rPr>
              <a:t>Metrix Multiplications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Circular and Linear convolution</a:t>
            </a:r>
            <a:br>
              <a:rPr lang="en-IN" dirty="0">
                <a:effectLst/>
              </a:rPr>
            </a:br>
            <a:r>
              <a:rPr lang="en-US" dirty="0">
                <a:effectLst/>
              </a:rPr>
              <a:t>first order second order equations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34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C66B-B4BE-4555-5D5D-F65CD255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71857"/>
            <a:ext cx="10353761" cy="880872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 scenario on current architecture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B61ACD7-2AC5-7700-1111-7E95107D3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3" y="1252729"/>
            <a:ext cx="8469084" cy="56052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7FB98A-4C13-DD08-44AE-CCEB370C66E9}"/>
              </a:ext>
            </a:extLst>
          </p:cNvPr>
          <p:cNvSpPr txBox="1"/>
          <p:nvPr/>
        </p:nvSpPr>
        <p:spPr>
          <a:xfrm>
            <a:off x="8958943" y="1632857"/>
            <a:ext cx="28629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current scenario step 2 3 &amp; 4 are completely dependent on software which is executed with a generic hardware(Not speed and power efficient)</a:t>
            </a:r>
            <a:br>
              <a:rPr lang="en-US" dirty="0"/>
            </a:br>
            <a:r>
              <a:rPr lang="en-US" dirty="0"/>
              <a:t>Step 5 is partially on  hardware.</a:t>
            </a:r>
          </a:p>
          <a:p>
            <a:endParaRPr lang="en-US" dirty="0"/>
          </a:p>
          <a:p>
            <a:r>
              <a:rPr lang="en-US" dirty="0"/>
              <a:t>Our target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Gradually </a:t>
            </a:r>
            <a:r>
              <a:rPr lang="en-US" dirty="0"/>
              <a:t> move the 2</a:t>
            </a:r>
            <a:r>
              <a:rPr lang="en-US" baseline="30000" dirty="0"/>
              <a:t>nd</a:t>
            </a:r>
            <a:r>
              <a:rPr lang="en-US" dirty="0"/>
              <a:t> 3</a:t>
            </a:r>
            <a:r>
              <a:rPr lang="en-US" baseline="30000" dirty="0"/>
              <a:t>rd</a:t>
            </a:r>
            <a:r>
              <a:rPr lang="en-US" dirty="0"/>
              <a:t> and 4</a:t>
            </a:r>
            <a:r>
              <a:rPr lang="en-US" baseline="30000" dirty="0"/>
              <a:t>th</a:t>
            </a:r>
            <a:r>
              <a:rPr lang="en-US" dirty="0"/>
              <a:t> stage on hardware for high-speed application.</a:t>
            </a:r>
            <a:br>
              <a:rPr lang="en-US" dirty="0"/>
            </a:b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stage also needs more application specific hardware.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20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D042-31EE-9295-BB5A-3EAD1E1D1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0629"/>
            <a:ext cx="10353761" cy="653143"/>
          </a:xfrm>
        </p:spPr>
        <p:txBody>
          <a:bodyPr/>
          <a:lstStyle/>
          <a:p>
            <a:r>
              <a:rPr lang="en-US" dirty="0"/>
              <a:t>Research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0F1DF-6197-F28E-324C-24EA39ABC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783772"/>
            <a:ext cx="10930759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0C98-E9C6-D4C3-34E9-C8C6A7EA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88848"/>
          </a:xfrm>
        </p:spPr>
        <p:txBody>
          <a:bodyPr/>
          <a:lstStyle/>
          <a:p>
            <a:r>
              <a:rPr lang="en-US" dirty="0"/>
              <a:t>Research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A084-1591-58EC-A7D6-C0C64AFF4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98449"/>
            <a:ext cx="10353762" cy="53949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Introduce a highly effective hardwire system dedicated for AI operations by implementing dedicated on chip systems to handle complex AI computation without softwire interfacing.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Incorporate dedicated Memory architecture for the developed hardware/ Application of </a:t>
            </a:r>
            <a:r>
              <a:rPr lang="en-IN" dirty="0"/>
              <a:t>In-memory computing (IMC) for optimization </a:t>
            </a:r>
          </a:p>
          <a:p>
            <a:r>
              <a:rPr lang="en-US" dirty="0"/>
              <a:t>On chip digital neural network system to support AI application (TBD)</a:t>
            </a:r>
          </a:p>
          <a:p>
            <a:r>
              <a:rPr lang="en-US" dirty="0"/>
              <a:t>Reduce Software dependency and increase hardware dependency of a system for better reliability and faster response.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BBE5ED-2A29-81EA-F42D-D041A8297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327663"/>
              </p:ext>
            </p:extLst>
          </p:nvPr>
        </p:nvGraphicFramePr>
        <p:xfrm>
          <a:off x="1185935" y="2438738"/>
          <a:ext cx="9809480" cy="2560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904740">
                  <a:extLst>
                    <a:ext uri="{9D8B030D-6E8A-4147-A177-3AD203B41FA5}">
                      <a16:colId xmlns:a16="http://schemas.microsoft.com/office/drawing/2014/main" val="2923112059"/>
                    </a:ext>
                  </a:extLst>
                </a:gridCol>
                <a:gridCol w="4904740">
                  <a:extLst>
                    <a:ext uri="{9D8B030D-6E8A-4147-A177-3AD203B41FA5}">
                      <a16:colId xmlns:a16="http://schemas.microsoft.com/office/drawing/2014/main" val="4223261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Currently hardwires are solving linear computation by using generic hardware which needs </a:t>
                      </a: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 and forth communication in between software and Hardware (ON chip and OFF chip communication) which is finally solving a complex equation. This process is Very Slow and creating high dependency/repeated use of same generic hardware.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Goal</a:t>
                      </a:r>
                      <a:r>
                        <a:rPr lang="en-US" b="0" dirty="0">
                          <a:sym typeface="Wingdings" panose="05000000000000000000" pitchFamily="2" charset="2"/>
                        </a:rPr>
                        <a:t> Develop a hardwire system to solve 1</a:t>
                      </a:r>
                      <a:r>
                        <a:rPr lang="en-US" b="0" baseline="30000" dirty="0">
                          <a:sym typeface="Wingdings" panose="05000000000000000000" pitchFamily="2" charset="2"/>
                        </a:rPr>
                        <a:t>st</a:t>
                      </a:r>
                      <a:r>
                        <a:rPr lang="en-US" b="0" dirty="0">
                          <a:sym typeface="Wingdings" panose="05000000000000000000" pitchFamily="2" charset="2"/>
                        </a:rPr>
                        <a:t> order 2</a:t>
                      </a:r>
                      <a:r>
                        <a:rPr lang="en-US" b="0" baseline="30000" dirty="0">
                          <a:sym typeface="Wingdings" panose="05000000000000000000" pitchFamily="2" charset="2"/>
                        </a:rPr>
                        <a:t>nd</a:t>
                      </a:r>
                      <a:r>
                        <a:rPr lang="en-US" b="0" dirty="0">
                          <a:sym typeface="Wingdings" panose="05000000000000000000" pitchFamily="2" charset="2"/>
                        </a:rPr>
                        <a:t> order equations coming out of various AI search and optimization algorithms. Direct realization of AI algorithms on hardwire will give a huge leap in current AI infrastructure.</a:t>
                      </a:r>
                      <a:br>
                        <a:rPr lang="en-US" b="0" dirty="0">
                          <a:sym typeface="Wingdings" panose="05000000000000000000" pitchFamily="2" charset="2"/>
                        </a:rPr>
                      </a:br>
                      <a:r>
                        <a:rPr lang="en-US" b="0" dirty="0">
                          <a:sym typeface="Wingdings" panose="05000000000000000000" pitchFamily="2" charset="2"/>
                        </a:rPr>
                        <a:t>Example Hardware computation capability of Optimization Algorithms, Gradient and Hessian function solver,  etc.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11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61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ACFC-229E-E973-949C-8AC6C09F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14400"/>
          </a:xfrm>
        </p:spPr>
        <p:txBody>
          <a:bodyPr/>
          <a:lstStyle/>
          <a:p>
            <a:r>
              <a:rPr lang="en-US" dirty="0"/>
              <a:t>Literature survey (TBD…)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5B79-4BEE-BBB4-2DAE-67022645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47799"/>
            <a:ext cx="10353762" cy="4800599"/>
          </a:xfrm>
        </p:spPr>
        <p:txBody>
          <a:bodyPr/>
          <a:lstStyle/>
          <a:p>
            <a:r>
              <a:rPr lang="en-US" dirty="0"/>
              <a:t>AI algorithms to be targeted</a:t>
            </a:r>
            <a:r>
              <a:rPr lang="en-US" dirty="0">
                <a:sym typeface="Wingdings" panose="05000000000000000000" pitchFamily="2" charset="2"/>
              </a:rPr>
              <a:t>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IN" b="1" dirty="0">
                <a:effectLst/>
              </a:rPr>
              <a:t>Linear Programming and Optimization Algorithms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AI Algorithms Based on Neural Networks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AI Algorithms for Computer Vision</a:t>
            </a:r>
            <a:br>
              <a:rPr lang="en-IN" b="1" dirty="0">
                <a:effectLst/>
              </a:rPr>
            </a:br>
            <a:r>
              <a:rPr lang="en-IN" b="1" dirty="0">
                <a:effectLst/>
              </a:rPr>
              <a:t>AI Search Algorithms</a:t>
            </a:r>
          </a:p>
          <a:p>
            <a:r>
              <a:rPr lang="en-IN" b="1" dirty="0">
                <a:effectLst/>
              </a:rPr>
              <a:t>Reference</a:t>
            </a:r>
            <a:r>
              <a:rPr lang="en-IN" b="1" dirty="0">
                <a:effectLst/>
                <a:sym typeface="Wingdings" panose="05000000000000000000" pitchFamily="2" charset="2"/>
              </a:rPr>
              <a:t></a:t>
            </a:r>
            <a:br>
              <a:rPr lang="en-IN" b="1" dirty="0">
                <a:effectLst/>
                <a:sym typeface="Wingdings" panose="05000000000000000000" pitchFamily="2" charset="2"/>
              </a:rPr>
            </a:br>
            <a:r>
              <a:rPr lang="en-IN" b="1" dirty="0">
                <a:effectLst/>
                <a:sym typeface="Wingdings" panose="05000000000000000000" pitchFamily="2" charset="2"/>
                <a:hlinkClick r:id="rId2"/>
              </a:rPr>
              <a:t>https://www.geeksforgeeks.org/artificial-intelligence/ai-algorithms/</a:t>
            </a:r>
            <a:endParaRPr lang="en-IN" b="1" dirty="0">
              <a:effectLst/>
              <a:sym typeface="Wingdings" panose="05000000000000000000" pitchFamily="2" charset="2"/>
            </a:endParaRPr>
          </a:p>
          <a:p>
            <a:r>
              <a:rPr lang="en-IN" b="1" dirty="0">
                <a:effectLst/>
                <a:hlinkClick r:id="rId3"/>
              </a:rPr>
              <a:t>https://www.geeksforgeeks.org/deep-learning/second-order-optimization-methods/#example-1-newtons-method</a:t>
            </a:r>
            <a:endParaRPr lang="en-IN" b="1" dirty="0">
              <a:effectLst/>
            </a:endParaRPr>
          </a:p>
          <a:p>
            <a:r>
              <a:rPr lang="en-IN" b="1" dirty="0">
                <a:effectLst/>
                <a:hlinkClick r:id="rId4"/>
              </a:rPr>
              <a:t>https://www.geeksforgeeks.org/machine-learning/newtons-method-in-machine-learning/#newtons-method-for-optimization</a:t>
            </a:r>
            <a:endParaRPr lang="en-IN" b="1" dirty="0">
              <a:effectLst/>
            </a:endParaRPr>
          </a:p>
          <a:p>
            <a:endParaRPr lang="en-IN" b="1" dirty="0">
              <a:effectLst/>
            </a:endParaRPr>
          </a:p>
          <a:p>
            <a:endParaRPr lang="en-IN" b="1" dirty="0">
              <a:effectLst/>
            </a:endParaRPr>
          </a:p>
          <a:p>
            <a:endParaRPr lang="en-IN" b="1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94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0DA1-41B3-1FD0-0BB2-FCAAFFF0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study and Final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F427-AA93-068E-CCA5-02F67B8C0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TBD…..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564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6235</TotalTime>
  <Words>457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Calibri</vt:lpstr>
      <vt:lpstr>Rockwell</vt:lpstr>
      <vt:lpstr>Wingdings</vt:lpstr>
      <vt:lpstr>Damask</vt:lpstr>
      <vt:lpstr>Hardware implementation of AI algorithms for high-speed AI platforms</vt:lpstr>
      <vt:lpstr>Synopsys</vt:lpstr>
      <vt:lpstr>Application scenario on current architecture</vt:lpstr>
      <vt:lpstr>Research</vt:lpstr>
      <vt:lpstr>Research </vt:lpstr>
      <vt:lpstr>Literature survey (TBD…)</vt:lpstr>
      <vt:lpstr>Initial study and Final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Kayal, Dibyendu</dc:creator>
  <cp:lastModifiedBy>Kayal, Dibyendu</cp:lastModifiedBy>
  <cp:revision>1</cp:revision>
  <dcterms:created xsi:type="dcterms:W3CDTF">2026-07-19T13:49:07Z</dcterms:created>
  <dcterms:modified xsi:type="dcterms:W3CDTF">2026-07-27T08:40:21Z</dcterms:modified>
</cp:coreProperties>
</file>